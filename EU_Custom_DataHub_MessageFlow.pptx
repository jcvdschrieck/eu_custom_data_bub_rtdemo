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EU Custom Data Hub — Technical Message Flow (Swimlane)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475488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88952" cy="3118104"/>
          </a:xfrm>
          <a:prstGeom prst="rect">
            <a:avLst/>
          </a:prstGeom>
          <a:solidFill>
            <a:srgbClr val="D4DFF2"/>
          </a:solidFill>
          <a:ln w="12700">
            <a:solidFill>
              <a:srgbClr val="D4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48456"/>
            <a:ext cx="12188952" cy="3118104"/>
          </a:xfrm>
          <a:prstGeom prst="rect">
            <a:avLst/>
          </a:prstGeom>
          <a:solidFill>
            <a:srgbClr val="D0EDDD"/>
          </a:solidFill>
          <a:ln w="12700">
            <a:solidFill>
              <a:srgbClr val="D0E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48456"/>
            <a:ext cx="12188952" cy="274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1078992" cy="3118104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EU Custom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Data Hub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European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Commission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port 8505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48456"/>
            <a:ext cx="1078992" cy="3118104"/>
          </a:xfrm>
          <a:prstGeom prst="rect">
            <a:avLst/>
          </a:prstGeom>
          <a:solidFill>
            <a:srgbClr val="169B62"/>
          </a:solidFill>
          <a:ln w="1270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Ireland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Investigation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Irish Revenue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Agent +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676656"/>
            <a:ext cx="1296162" cy="2825496"/>
          </a:xfrm>
          <a:prstGeom prst="rect">
            <a:avLst/>
          </a:prstGeom>
          <a:solidFill>
            <a:srgbClr val="CEE5F2"/>
          </a:solidFill>
          <a:ln w="19050"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676656"/>
            <a:ext cx="1296162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2728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6AA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Simulation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1,514 March 2026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transactions pre-seeded.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Scenario week 2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(8–14 Mar):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TechZone GmbH → IE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8 txn/day at 0%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(correct: 23%)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Replay speed: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configurab. 1×–2880×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026664"/>
            <a:ext cx="1131570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simulation.db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3026664"/>
            <a:ext cx="1131570" cy="80467"/>
          </a:xfrm>
          <a:prstGeom prst="rect">
            <a:avLst/>
          </a:prstGeom>
          <a:solidFill>
            <a:srgbClr val="CEE5F2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8890" y="676656"/>
            <a:ext cx="1296162" cy="2825496"/>
          </a:xfrm>
          <a:prstGeom prst="rect">
            <a:avLst/>
          </a:prstGeom>
          <a:solidFill>
            <a:srgbClr val="CEE5F2"/>
          </a:solidFill>
          <a:ln w="19050"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8890" y="676656"/>
            <a:ext cx="1296162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1186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6AA0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6090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Simulation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0330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asyncio background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task; ticks every 50ms.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Advances simulated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clock at configured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speed.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Fetches pending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transactions ≤ sim_time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from simulation.db;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marks fired=1.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Calls fire_callback()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27348" y="676656"/>
            <a:ext cx="1296162" cy="2825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7348" y="676656"/>
            <a:ext cx="1296162" cy="402336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09644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399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4548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Insert to EU Custom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8787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insert_transaction()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writes each record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european_custom.db.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 added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in-memory live queue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(30-tx ring buffer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for front-end poll).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All records stored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regardless of VAT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correctness.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9644" y="3026664"/>
            <a:ext cx="1131570" cy="402336"/>
          </a:xfrm>
          <a:prstGeom prst="rect">
            <a:avLst/>
          </a:prstGeom>
          <a:solidFill>
            <a:srgbClr val="007A8A"/>
          </a:solidFill>
          <a:ln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european_custom.db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9644" y="3026664"/>
            <a:ext cx="1131570" cy="80467"/>
          </a:xfrm>
          <a:prstGeom prst="rect">
            <a:avLst/>
          </a:prstGeom>
          <a:solidFill>
            <a:srgbClr val="CCEAEE"/>
          </a:solidFill>
          <a:ln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5806" y="676656"/>
            <a:ext cx="1296162" cy="2825496"/>
          </a:xfrm>
          <a:prstGeom prst="rect">
            <a:avLst/>
          </a:prstGeom>
          <a:solidFill>
            <a:srgbClr val="FAE0E0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5806" y="676656"/>
            <a:ext cx="1296162" cy="402336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8102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C222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3006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VAT Alarm Checker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7246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After DB write: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7-day VAT/value ratio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vs 8-week baseline.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Deviation &gt; 25%: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alarm raised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(7-day validity)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Active alarm + IE: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suspicious = 1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suspicion: MEDIUM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Non-IE: alarm only,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no suspicious flag.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8102" y="3191256"/>
            <a:ext cx="1131570" cy="23774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⚠ alarms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4264" y="676656"/>
            <a:ext cx="1296162" cy="2825496"/>
          </a:xfrm>
          <a:prstGeom prst="rect">
            <a:avLst/>
          </a:prstGeom>
          <a:solidFill>
            <a:srgbClr val="E8DDF5"/>
          </a:solidFill>
          <a:ln w="1905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84264" y="676656"/>
            <a:ext cx="1296162" cy="402336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A3D9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Agent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704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If suspicious=1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(IE-bound only):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tx enqueued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asyncio.Queue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(non-blocking).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Background worker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picks up items;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runs agent in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ThreadPoolExecutor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(keeps sim loop free).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Queue depth shown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in simulation/status.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2722" y="3794760"/>
            <a:ext cx="1296162" cy="2825496"/>
          </a:xfrm>
          <a:prstGeom prst="rect">
            <a:avLst/>
          </a:prstGeom>
          <a:solidFill>
            <a:srgbClr val="E8DDF5"/>
          </a:solidFill>
          <a:ln w="1905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2722" y="3794760"/>
            <a:ext cx="1296162" cy="402336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5018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A3D9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9922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VAT Fraud Detection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4162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Subprocess bridge: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agent_bridge.py calls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_analyse_tx.py in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vat_fraud_detection/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Builds Invoice +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LineItem from tx dict.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RAG retrieves Irish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VAT legislation from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ChromaDB.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LM Studio LLM returns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verdict per line item: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 / incorrect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/ uncertain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45018" y="6309360"/>
            <a:ext cx="1131570" cy="237744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LM Studio  port 1234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1180" y="3794760"/>
            <a:ext cx="1296162" cy="2825496"/>
          </a:xfrm>
          <a:prstGeom prst="rect">
            <a:avLst/>
          </a:prstGeom>
          <a:solidFill>
            <a:srgbClr val="D0EDDD"/>
          </a:solidFill>
          <a:ln w="1905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41180" y="3794760"/>
            <a:ext cx="1296162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23476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9B62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8380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Verdict Routing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2619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INCORRECT: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suspicion_level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upgraded to HIGH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insert_ireland_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queue()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insert_agent_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log(sent=1)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 /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UNCERTAIN: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suspicious flag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cleared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insert_agent_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log(sent=0)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23476" y="6053328"/>
            <a:ext cx="1131570" cy="219456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INCORRECT → 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23476" y="6309360"/>
            <a:ext cx="1131570" cy="21945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CORRECT / UNCERTAIN → cleared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19638" y="3794760"/>
            <a:ext cx="1296162" cy="2825496"/>
          </a:xfrm>
          <a:prstGeom prst="rect">
            <a:avLst/>
          </a:prstGeom>
          <a:solidFill>
            <a:srgbClr val="D0EDDD"/>
          </a:solidFill>
          <a:ln w="1905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19638" y="3794760"/>
            <a:ext cx="1296162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901934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9B62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6838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Ireland Investigation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11078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Confirmed-incorrect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cases for local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investigation.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Each entry includes: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Transaction detail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Alarm key + deviation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Applied vs 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VAT rate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Agent reasoning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Suspicion: HIGH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Front-end: /ireland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01934" y="6144768"/>
            <a:ext cx="1131570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ireland_queue table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01934" y="6144768"/>
            <a:ext cx="1131570" cy="80467"/>
          </a:xfrm>
          <a:prstGeom prst="rect">
            <a:avLst/>
          </a:prstGeom>
          <a:solidFill>
            <a:srgbClr val="D0EDDD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466594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45052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223510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601968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58884" y="5207508"/>
            <a:ext cx="82296" cy="0"/>
          </a:xfrm>
          <a:prstGeom prst="line">
            <a:avLst/>
          </a:prstGeom>
          <a:ln w="25400">
            <a:solidFill>
              <a:srgbClr val="169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737342" y="5207508"/>
            <a:ext cx="82296" cy="0"/>
          </a:xfrm>
          <a:prstGeom prst="line">
            <a:avLst/>
          </a:prstGeom>
          <a:ln w="25400">
            <a:solidFill>
              <a:srgbClr val="169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397153" y="3502152"/>
            <a:ext cx="0" cy="146304"/>
          </a:xfrm>
          <a:prstGeom prst="line">
            <a:avLst/>
          </a:prstGeom>
          <a:ln w="2540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97153" y="3648456"/>
            <a:ext cx="1248841" cy="0"/>
          </a:xfrm>
          <a:prstGeom prst="line">
            <a:avLst/>
          </a:prstGeom>
          <a:ln w="2540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645994" y="3648456"/>
            <a:ext cx="0" cy="146304"/>
          </a:xfrm>
          <a:prstGeom prst="line">
            <a:avLst/>
          </a:prstGeom>
          <a:ln w="25400">
            <a:solidFill>
              <a:srgbClr val="6A3D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351433" y="3300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A3D9A"/>
                </a:solidFill>
              </a:rPr>
              <a:t>suspicious IE tx</a:t>
            </a:r>
          </a:p>
          <a:p>
            <a:pPr algn="ctr"/>
            <a:r>
              <a:rPr sz="700" b="0" i="1">
                <a:solidFill>
                  <a:srgbClr val="6A3D9A"/>
                </a:solidFill>
              </a:rPr>
              <a:t>(suspicion: MEDIUM)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1439" y="6327648"/>
            <a:ext cx="1203350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4592" y="6364224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</a:rPr>
              <a:t>COLOUR CODE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4592" y="6565392"/>
            <a:ext cx="164592" cy="146304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59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Simulation layer (replay engine)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92224" y="6565392"/>
            <a:ext cx="164592" cy="146304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93392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EU Custom Data Hub processes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19856" y="6565392"/>
            <a:ext cx="164592" cy="14630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21024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VAT alarm detection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047488" y="6565392"/>
            <a:ext cx="164592" cy="146304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48656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AI agent processing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20" y="6565392"/>
            <a:ext cx="164592" cy="146304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76288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Ireland investigation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02752" y="6565392"/>
            <a:ext cx="164592" cy="146304"/>
          </a:xfrm>
          <a:prstGeom prst="rect">
            <a:avLst/>
          </a:prstGeom>
          <a:solidFill>
            <a:srgbClr val="007A8A"/>
          </a:solidFill>
          <a:ln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03919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Persistent database storage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930384" y="6565392"/>
            <a:ext cx="164592" cy="146304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31551" y="6547104"/>
            <a:ext cx="13898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Cross-lane handoff (suspicious IE tx)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Transaction Journey — Business &amp; Functional Perspective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475488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530352"/>
            <a:ext cx="11914632" cy="310896"/>
          </a:xfrm>
          <a:prstGeom prst="rect">
            <a:avLst/>
          </a:prstGeom>
          <a:solidFill>
            <a:srgbClr val="D4DFF2"/>
          </a:solidFill>
          <a:ln w="1016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50" b="0">
                <a:solidFill>
                  <a:srgbClr val="003399"/>
                </a:solidFill>
              </a:rPr>
              <a:t>Cross-border B2C e-commerce transaction (supplier → EU buyer) arrives at the EU Custom Data Hub carrying: seller identity, buyer country, product category, value, and applied VAT rate.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" y="1856232"/>
            <a:ext cx="1207008" cy="1115568"/>
          </a:xfrm>
          <a:prstGeom prst="rect">
            <a:avLst/>
          </a:prstGeom>
          <a:solidFill>
            <a:srgbClr val="D4DF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03399"/>
                </a:solidFill>
              </a:rPr>
              <a:t>Transaction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Arrives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at EU Custom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Data 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" y="1618488"/>
            <a:ext cx="1207008" cy="201168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Supplier (cross-border B2C)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7904" y="1856232"/>
            <a:ext cx="1207008" cy="1115568"/>
          </a:xfrm>
          <a:prstGeom prst="rect">
            <a:avLst/>
          </a:prstGeom>
          <a:solidFill>
            <a:srgbClr val="D4DF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03399"/>
                </a:solidFill>
              </a:rPr>
              <a:t>Transaction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Recorded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Permanently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254788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03399"/>
                </a:solidFill>
              </a:rPr>
              <a:t>Regardless of</a:t>
            </a:r>
          </a:p>
          <a:p>
            <a:pPr algn="ctr"/>
            <a:r>
              <a:rPr sz="700" b="0" i="1">
                <a:solidFill>
                  <a:srgbClr val="003399"/>
                </a:solidFill>
              </a:rPr>
              <a:t>compliance 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517904" y="1618488"/>
            <a:ext cx="1207008" cy="201168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EU Custom Data 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56232"/>
            <a:ext cx="1207008" cy="1115568"/>
          </a:xfrm>
          <a:prstGeom prst="rect">
            <a:avLst/>
          </a:prstGeom>
          <a:solidFill>
            <a:srgbClr val="D4DFF2"/>
          </a:solidFill>
          <a:ln w="254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03399"/>
                </a:solidFill>
              </a:rPr>
              <a:t>VAT Compliance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Monitoring</a:t>
            </a:r>
          </a:p>
          <a:p>
            <a:pPr algn="ctr"/>
            <a:r>
              <a:rPr sz="950" b="1">
                <a:solidFill>
                  <a:srgbClr val="003399"/>
                </a:solidFill>
              </a:rPr>
              <a:t>(automated)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54788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003399"/>
                </a:solidFill>
              </a:rPr>
              <a:t>7-day ratio vs</a:t>
            </a:r>
          </a:p>
          <a:p>
            <a:pPr algn="ctr"/>
            <a:r>
              <a:rPr sz="700" b="0" i="1">
                <a:solidFill>
                  <a:srgbClr val="003399"/>
                </a:solidFill>
              </a:rPr>
              <a:t>8-week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618488"/>
            <a:ext cx="1207008" cy="201168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EU Custom Data Hub</a:t>
            </a:r>
          </a:p>
        </p:txBody>
      </p:sp>
      <p:sp>
        <p:nvSpPr>
          <p:cNvPr id="13" name="Diamond 12"/>
          <p:cNvSpPr/>
          <p:nvPr/>
        </p:nvSpPr>
        <p:spPr>
          <a:xfrm>
            <a:off x="4334256" y="1911095"/>
            <a:ext cx="1042415" cy="1005840"/>
          </a:xfrm>
          <a:prstGeom prst="diamond">
            <a:avLst/>
          </a:prstGeom>
          <a:solidFill>
            <a:srgbClr val="FDF0D8"/>
          </a:solidFill>
          <a:ln w="254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68A00"/>
                </a:solidFill>
              </a:rPr>
              <a:t>VAT Rate</a:t>
            </a:r>
          </a:p>
          <a:p>
            <a:pPr algn="ctr"/>
            <a:r>
              <a:rPr sz="850" b="1">
                <a:solidFill>
                  <a:srgbClr val="E68A00"/>
                </a:solidFill>
              </a:rPr>
              <a:t>Deviation</a:t>
            </a:r>
          </a:p>
          <a:p>
            <a:pPr algn="ctr"/>
            <a:r>
              <a:rPr sz="850" b="1">
                <a:solidFill>
                  <a:srgbClr val="E68A00"/>
                </a:solidFill>
              </a:rPr>
              <a:t>Alert?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856232"/>
            <a:ext cx="1207008" cy="1115568"/>
          </a:xfrm>
          <a:prstGeom prst="rect">
            <a:avLst/>
          </a:prstGeom>
          <a:solidFill>
            <a:srgbClr val="FAE0E0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CC2222"/>
                </a:solidFill>
              </a:rPr>
              <a:t>Deviation Alert</a:t>
            </a:r>
          </a:p>
          <a:p>
            <a:pPr algn="ctr"/>
            <a:r>
              <a:rPr sz="950" b="1">
                <a:solidFill>
                  <a:srgbClr val="CC2222"/>
                </a:solidFill>
              </a:rPr>
              <a:t>Raised</a:t>
            </a:r>
          </a:p>
          <a:p>
            <a:pPr algn="ctr"/>
            <a:r>
              <a:rPr sz="950" b="1">
                <a:solidFill>
                  <a:srgbClr val="CC2222"/>
                </a:solidFill>
              </a:rPr>
              <a:t>(7-day validity)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547884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CC2222"/>
                </a:solidFill>
              </a:rPr>
              <a:t>Supplier flagged for</a:t>
            </a:r>
          </a:p>
          <a:p>
            <a:pPr algn="ctr"/>
            <a:r>
              <a:rPr sz="700" b="0" i="1">
                <a:solidFill>
                  <a:srgbClr val="CC2222"/>
                </a:solidFill>
              </a:rPr>
              <a:t>enhanced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008376"/>
            <a:ext cx="1207008" cy="201168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Suspicion: MEDIUM</a:t>
            </a:r>
          </a:p>
        </p:txBody>
      </p:sp>
      <p:sp>
        <p:nvSpPr>
          <p:cNvPr id="17" name="Diamond 16"/>
          <p:cNvSpPr/>
          <p:nvPr/>
        </p:nvSpPr>
        <p:spPr>
          <a:xfrm>
            <a:off x="6986016" y="1911095"/>
            <a:ext cx="1042415" cy="1005840"/>
          </a:xfrm>
          <a:prstGeom prst="diamond">
            <a:avLst/>
          </a:prstGeom>
          <a:solidFill>
            <a:srgbClr val="FDF0D8"/>
          </a:solidFill>
          <a:ln w="254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68A00"/>
                </a:solidFill>
              </a:rPr>
              <a:t>Destination:</a:t>
            </a:r>
          </a:p>
          <a:p>
            <a:pPr algn="ctr"/>
            <a:r>
              <a:rPr sz="850" b="1">
                <a:solidFill>
                  <a:srgbClr val="E68A00"/>
                </a:solidFill>
              </a:rPr>
              <a:t>Ireland?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856232"/>
            <a:ext cx="1207008" cy="1115568"/>
          </a:xfrm>
          <a:prstGeom prst="rect">
            <a:avLst/>
          </a:prstGeom>
          <a:solidFill>
            <a:srgbClr val="E8DDF5"/>
          </a:solidFill>
          <a:ln w="2540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6A3D9A"/>
                </a:solidFill>
              </a:rPr>
              <a:t>AI Compliance</a:t>
            </a:r>
          </a:p>
          <a:p>
            <a:pPr algn="ctr"/>
            <a:r>
              <a:rPr sz="950" b="1">
                <a:solidFill>
                  <a:srgbClr val="6A3D9A"/>
                </a:solidFill>
              </a:rPr>
              <a:t>Agent</a:t>
            </a:r>
          </a:p>
          <a:p>
            <a:pPr algn="ctr"/>
            <a:r>
              <a:rPr sz="950" b="1">
                <a:solidFill>
                  <a:srgbClr val="6A3D9A"/>
                </a:solidFill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480950"/>
            <a:ext cx="1060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A3D9A"/>
                </a:solidFill>
              </a:rPr>
              <a:t>VAT legislation RAG</a:t>
            </a:r>
          </a:p>
          <a:p>
            <a:pPr algn="ctr"/>
            <a:r>
              <a:rPr sz="700" b="0" i="1">
                <a:solidFill>
                  <a:srgbClr val="6A3D9A"/>
                </a:solidFill>
              </a:rPr>
              <a:t>+ LLM verdict</a:t>
            </a:r>
          </a:p>
          <a:p>
            <a:pPr algn="ctr"/>
            <a:r>
              <a:rPr sz="700" b="0" i="1">
                <a:solidFill>
                  <a:srgbClr val="6A3D9A"/>
                </a:solidFill>
              </a:rPr>
              <a:t>per line item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18488"/>
            <a:ext cx="1207008" cy="201168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EU Customs → Irish Revenue Agent</a:t>
            </a:r>
          </a:p>
        </p:txBody>
      </p:sp>
      <p:sp>
        <p:nvSpPr>
          <p:cNvPr id="21" name="Diamond 20"/>
          <p:cNvSpPr/>
          <p:nvPr/>
        </p:nvSpPr>
        <p:spPr>
          <a:xfrm>
            <a:off x="9637776" y="1911095"/>
            <a:ext cx="1042415" cy="1005840"/>
          </a:xfrm>
          <a:prstGeom prst="diamond">
            <a:avLst/>
          </a:prstGeom>
          <a:solidFill>
            <a:srgbClr val="FDF0D8"/>
          </a:solidFill>
          <a:ln w="2540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E68A00"/>
                </a:solidFill>
              </a:rPr>
              <a:t>VAT Rate</a:t>
            </a:r>
          </a:p>
          <a:p>
            <a:pPr algn="ctr"/>
            <a:r>
              <a:rPr sz="850" b="1">
                <a:solidFill>
                  <a:srgbClr val="E68A00"/>
                </a:solidFill>
              </a:rPr>
              <a:t>Confirmed</a:t>
            </a:r>
          </a:p>
          <a:p>
            <a:pPr algn="ctr"/>
            <a:r>
              <a:rPr sz="850" b="1">
                <a:solidFill>
                  <a:srgbClr val="E68A00"/>
                </a:solidFill>
              </a:rPr>
              <a:t>Incorrect?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60" y="1856232"/>
            <a:ext cx="1207008" cy="1115568"/>
          </a:xfrm>
          <a:prstGeom prst="rect">
            <a:avLst/>
          </a:prstGeom>
          <a:solidFill>
            <a:srgbClr val="D0EDDD"/>
          </a:solidFill>
          <a:ln w="3175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169B62"/>
                </a:solidFill>
              </a:rPr>
              <a:t>Ireland Revenue</a:t>
            </a:r>
          </a:p>
          <a:p>
            <a:pPr algn="ctr"/>
            <a:r>
              <a:rPr sz="950" b="1">
                <a:solidFill>
                  <a:srgbClr val="169B62"/>
                </a:solidFill>
              </a:rPr>
              <a:t>Investigation</a:t>
            </a:r>
          </a:p>
          <a:p>
            <a:pPr algn="ctr"/>
            <a:r>
              <a:rPr sz="950" b="1">
                <a:solidFill>
                  <a:srgbClr val="169B62"/>
                </a:solidFill>
              </a:rPr>
              <a:t>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4512" y="2503261"/>
            <a:ext cx="10607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169B62"/>
                </a:solidFill>
              </a:rPr>
              <a:t>Alarm evidence +</a:t>
            </a:r>
          </a:p>
          <a:p>
            <a:pPr algn="ctr"/>
            <a:r>
              <a:rPr sz="700" b="0" i="1">
                <a:solidFill>
                  <a:srgbClr val="169B62"/>
                </a:solidFill>
              </a:rPr>
              <a:t>agent reasoning</a:t>
            </a:r>
          </a:p>
          <a:p>
            <a:pPr algn="ctr"/>
            <a:r>
              <a:rPr sz="700" b="0" i="1">
                <a:solidFill>
                  <a:srgbClr val="169B62"/>
                </a:solidFill>
              </a:rPr>
              <a:t>provided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81360" y="1618488"/>
            <a:ext cx="1207008" cy="201168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Irish Revenue Authority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881360" y="3008376"/>
            <a:ext cx="1207008" cy="201168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Suspicion: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7952" y="4434840"/>
            <a:ext cx="1335024" cy="822960"/>
          </a:xfrm>
          <a:prstGeom prst="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757D"/>
                </a:solidFill>
              </a:rPr>
              <a:t>No Further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1104" y="489569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</a:rPr>
              <a:t>Transaction within</a:t>
            </a:r>
          </a:p>
          <a:p>
            <a:pPr algn="ctr"/>
            <a:r>
              <a:rPr sz="700" b="0" i="1">
                <a:solidFill>
                  <a:srgbClr val="6C757D"/>
                </a:solidFill>
              </a:rPr>
              <a:t>normal VAT parameters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39711" y="4434840"/>
            <a:ext cx="1335024" cy="822960"/>
          </a:xfrm>
          <a:prstGeom prst="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757D"/>
                </a:solidFill>
              </a:rPr>
              <a:t>Under Monitoring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3" y="489569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</a:rPr>
              <a:t>Alert recorded;</a:t>
            </a:r>
          </a:p>
          <a:p>
            <a:pPr algn="ctr"/>
            <a:r>
              <a:rPr sz="700" b="0" i="1">
                <a:solidFill>
                  <a:srgbClr val="6C757D"/>
                </a:solidFill>
              </a:rPr>
              <a:t>no member-state referral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91472" y="4434840"/>
            <a:ext cx="1335024" cy="822960"/>
          </a:xfrm>
          <a:prstGeom prst="rect">
            <a:avLst/>
          </a:prstGeom>
          <a:solidFill>
            <a:srgbClr val="E9ECEF"/>
          </a:solidFill>
          <a:ln w="1905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6C757D"/>
                </a:solidFill>
              </a:rPr>
              <a:t>Suspicion Cleared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4895697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C757D"/>
                </a:solidFill>
              </a:rPr>
              <a:t>Correct or inconclusive;</a:t>
            </a:r>
          </a:p>
          <a:p>
            <a:pPr algn="ctr"/>
            <a:r>
              <a:rPr sz="700" b="0" i="1">
                <a:solidFill>
                  <a:srgbClr val="6C757D"/>
                </a:solidFill>
              </a:rPr>
              <a:t>no further investigation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316736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24912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33088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376672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84848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28431" y="2414016"/>
            <a:ext cx="201169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436608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680192" y="2414016"/>
            <a:ext cx="201168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85816" y="2212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69B62"/>
                </a:solidFill>
              </a:rPr>
              <a:t>YES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5" y="2212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69B62"/>
                </a:solidFill>
              </a:rP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89336" y="22128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69B62"/>
                </a:solidFill>
              </a:rPr>
              <a:t>YES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855464" y="2916936"/>
            <a:ext cx="0" cy="1517904"/>
          </a:xfrm>
          <a:prstGeom prst="line">
            <a:avLst/>
          </a:prstGeom>
          <a:ln w="22860">
            <a:solidFill>
              <a:srgbClr val="CC22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892040" y="2971800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2222"/>
                </a:solidFill>
              </a:rPr>
              <a:t>NO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07223" y="2916936"/>
            <a:ext cx="0" cy="1517904"/>
          </a:xfrm>
          <a:prstGeom prst="line">
            <a:avLst/>
          </a:prstGeom>
          <a:ln w="22860">
            <a:solidFill>
              <a:srgbClr val="CC22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543799" y="2971800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2222"/>
                </a:solidFill>
              </a:rPr>
              <a:t>NO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158984" y="2916936"/>
            <a:ext cx="0" cy="1517904"/>
          </a:xfrm>
          <a:prstGeom prst="line">
            <a:avLst/>
          </a:prstGeom>
          <a:ln w="22860">
            <a:solidFill>
              <a:srgbClr val="CC222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195560" y="2971800"/>
            <a:ext cx="2194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C2222"/>
                </a:solidFill>
              </a:rPr>
              <a:t>NO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39" y="6364224"/>
            <a:ext cx="1203350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4592" y="6400800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2222"/>
                </a:solidFill>
              </a:rPr>
              <a:t>COLOUR CODE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6620256"/>
            <a:ext cx="164592" cy="146304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59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EU Custom Data Hub process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20240" y="6620256"/>
            <a:ext cx="164592" cy="14630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21408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VAT deviation alert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5887" y="6620256"/>
            <a:ext cx="164592" cy="146304"/>
          </a:xfrm>
          <a:prstGeom prst="rect">
            <a:avLst/>
          </a:prstGeom>
          <a:solidFill>
            <a:srgbClr val="E68A00"/>
          </a:solidFill>
          <a:ln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77055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Decision / routing point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31536" y="6620256"/>
            <a:ext cx="164592" cy="146304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32703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AI compliance agent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87183" y="6620256"/>
            <a:ext cx="164592" cy="146304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88351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Ireland Revenue investigation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42832" y="6620256"/>
            <a:ext cx="164592" cy="146304"/>
          </a:xfrm>
          <a:prstGeom prst="rect">
            <a:avLst/>
          </a:prstGeom>
          <a:solidFill>
            <a:srgbClr val="6C757D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3999" y="6601968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22222"/>
                </a:solidFill>
              </a:rPr>
              <a:t>Terminal — no further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