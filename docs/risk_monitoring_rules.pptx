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2560320"/>
          </a:xfrm>
          <a:prstGeom prst="rect">
            <a:avLst/>
          </a:prstGeom>
          <a:solidFill>
            <a:srgbClr val="003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</a:rPr>
              <a:t>Risk Monitoring Rules</a:t>
            </a:r>
          </a:p>
          <a:p>
            <a:r>
              <a:rPr sz="1600">
                <a:solidFill>
                  <a:srgbClr val="FFCC00"/>
                </a:solidFill>
              </a:rPr>
              <a:t>EU Custom Data Hub — Real-Time Risk Assessment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3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RT Risk Monitoring 1 — VAT Ratio Deviation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</a:rPr>
              <a:t>Engine ID: vat_ratio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</a:rPr>
              <a:t>Detects sudden shifts in a supplier's VAT-to-value ratio for a specific destination country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</a:rPr>
              <a:t>Algorithm:</a:t>
            </a:r>
          </a:p>
          <a:p>
            <a:pPr lvl="1"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</a:rPr>
              <a:t>Compute VAT/value ratio for (seller, buyer_country) over the last 7 days</a:t>
            </a:r>
          </a:p>
          <a:p>
            <a:pPr lvl="1"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</a:rPr>
              <a:t>Compare to the same ratio over the preceding 8 weeks (days −63 to −7)</a:t>
            </a:r>
          </a:p>
          <a:p>
            <a:pPr lvl="1"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</a:rPr>
              <a:t>If deviation &gt; 25% of the historical ratio → raise alarm (7-day expiry)</a:t>
            </a:r>
          </a:p>
          <a:p>
            <a:pPr lvl="1"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</a:rPr>
              <a:t>While alarm is active, tag all new transactions from the same pair as suspicious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474720"/>
          <a:ext cx="502920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14400"/>
                <a:gridCol w="2103120"/>
              </a:tblGrid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005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005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Description</a:t>
                      </a:r>
                    </a:p>
                  </a:txBody>
                  <a:tcPr>
                    <a:solidFill>
                      <a:srgbClr val="0050A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</a:rPr>
                        <a:t>MIN_CURRENT_TX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Min transactions in 7-day window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</a:rPr>
                        <a:t>MIN_HISTORICAL_TX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Min transactions in 8-week baseline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</a:rPr>
                        <a:t>DEVIATION_THRESHOLD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Trigger threshold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</a:rPr>
                        <a:t>SUSPICIOUS_COUNTRIES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{IE}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Countries entering suspicious queue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760720" y="100584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3399"/>
                </a:solidFill>
              </a:rPr>
              <a:t>Seeded Scenario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666666"/>
                </a:solidFill>
              </a:rPr>
              <a:t/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222222"/>
                </a:solidFill>
              </a:rPr>
              <a:t>TechZone GmbH (SUP001, DE) → Ireland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666666"/>
                </a:solidFill>
              </a:rPr>
              <a:t/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222222"/>
                </a:solidFill>
              </a:rPr>
              <a:t>Week 2 of March 2026: electronics billed at 0% instead of the correct 23%.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666666"/>
                </a:solidFill>
              </a:rPr>
              <a:t/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222222"/>
                </a:solidFill>
              </a:rPr>
              <a:t>7-day VAT ratio drops from ~19% to ~0%, far exceeding the 25% threshold.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666666"/>
                </a:solidFill>
              </a:rPr>
              <a:t/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222222"/>
                </a:solidFill>
              </a:rPr>
              <a:t>Alarm fires on the first affected transaction.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3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RT Risk Monitoring 2 — Supplier/Origin Watchlist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</a:rPr>
              <a:t>Engine ID: watchlist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</a:rPr>
              <a:t>Flags transactions from known-suspicious supplier × country-of-origin pairs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</a:rPr>
              <a:t>Algorithm:</a:t>
            </a:r>
          </a:p>
          <a:p>
            <a:pPr lvl="1"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</a:rPr>
              <a:t>Look up (seller_id, seller_country) in the WATCHLIST set</a:t>
            </a:r>
          </a:p>
          <a:p>
            <a:pPr lvl="1"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</a:rPr>
              <a:t>If present → flag the transaction</a:t>
            </a:r>
          </a:p>
          <a:p>
            <a:pPr lvl="1"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</a:rPr>
              <a:t>If not → clear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</a:rPr>
              <a:t>Simple binary lookup — no statistical analysis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</a:rPr>
              <a:t>Editable in lib/watchlist.py, takes effect immediately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200400"/>
          <a:ext cx="50292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2743200"/>
              </a:tblGrid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</a:rPr>
                        <a:t>Seller ID</a:t>
                      </a:r>
                    </a:p>
                  </a:txBody>
                  <a:tcPr>
                    <a:solidFill>
                      <a:srgbClr val="005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Country</a:t>
                      </a:r>
                    </a:p>
                  </a:txBody>
                  <a:tcPr>
                    <a:solidFill>
                      <a:srgbClr val="005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Supplier Name</a:t>
                      </a:r>
                    </a:p>
                  </a:txBody>
                  <a:tcPr>
                    <a:solidFill>
                      <a:srgbClr val="0050A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</a:rPr>
                        <a:t>SUP001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TechZone GmbH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</a:rPr>
                        <a:t>SUP002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FR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FashionHub Paris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</a:rPr>
                        <a:t>SUP005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NL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SportsPro Amsterdam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760720" y="1005840"/>
            <a:ext cx="3017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3399"/>
                </a:solidFill>
              </a:rPr>
              <a:t>Design rationale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222222"/>
                </a:solidFill>
              </a:rPr>
              <a:t/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222222"/>
                </a:solidFill>
              </a:rPr>
              <a:t>Covers scenarios where intelligence identifies a supplier as high-risk regardless of their current VAT behaviour.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222222"/>
                </a:solidFill>
              </a:rPr>
              <a:t/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222222"/>
                </a:solidFill>
              </a:rPr>
              <a:t>Complements the statistical VAT ratio check with a rule-based layer.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222222"/>
                </a:solidFill>
              </a:rPr>
              <a:t/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222222"/>
                </a:solidFill>
              </a:rPr>
              <a:t>Adding new entries requires no code change — just edit the WATCHLIST set.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03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</a:rPr>
              <a:t>Risk Score, Categories &amp; Confidence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4389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</a:rPr>
              <a:t>Both engines publish to a single RT Risk Outcome broker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</a:rPr>
              <a:t>The Automated Assessment Factory consolidates per transaction: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</a:rPr>
              <a:t/>
            </a:r>
          </a:p>
          <a:p>
            <a:pPr lvl="1"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</a:rPr>
              <a:t>Risk Score = flagged_count / total_outcomes_received</a:t>
            </a:r>
          </a:p>
          <a:p>
            <a:pPr lvl="1"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</a:rPr>
              <a:t>If no outcomes received (timeout): score = 50% (uncertain)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</a:rPr>
              <a:t/>
            </a:r>
          </a:p>
          <a:p>
            <a:pPr lvl="1"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</a:rPr>
              <a:t>Confidence = outcomes_received / TOTAL_RISK_ENGINES</a:t>
            </a:r>
          </a:p>
          <a:p>
            <a:pPr lvl="1">
              <a:spcAft>
                <a:spcPts val="400"/>
              </a:spcAft>
            </a:pPr>
            <a:r>
              <a:rPr sz="1100">
                <a:solidFill>
                  <a:srgbClr val="222222"/>
                </a:solidFill>
              </a:rPr>
              <a:t>With 2 engines: 0% (none), 50% (one), 100% (both)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926080"/>
          <a:ext cx="438912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371600"/>
                <a:gridCol w="1828800"/>
              </a:tblGrid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</a:rPr>
                        <a:t>Score Range</a:t>
                      </a:r>
                    </a:p>
                  </a:txBody>
                  <a:tcPr>
                    <a:solidFill>
                      <a:srgbClr val="005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Route</a:t>
                      </a:r>
                    </a:p>
                  </a:txBody>
                  <a:tcPr>
                    <a:solidFill>
                      <a:srgbClr val="005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Action</a:t>
                      </a:r>
                    </a:p>
                  </a:txBody>
                  <a:tcPr>
                    <a:solidFill>
                      <a:srgbClr val="0050A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</a:rPr>
                        <a:t>&lt; 33.33%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Green → Release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Auto-released, stored in DB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</a:rPr>
                        <a:t>33.33% – 66.66%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Amber → Investigate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Sent to C&amp;T Risk Management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</a:rPr>
                        <a:t>&gt; 66.66%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Red → Retain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Sent to C&amp;T Risk Management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120640" y="1005840"/>
          <a:ext cx="3657600" cy="22402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731520"/>
                <a:gridCol w="914400"/>
                <a:gridCol w="1097280"/>
              </a:tblGrid>
              <a:tr h="320039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</a:rPr>
                        <a:t>Flagged</a:t>
                      </a:r>
                    </a:p>
                  </a:txBody>
                  <a:tcPr>
                    <a:solidFill>
                      <a:srgbClr val="005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Score</a:t>
                      </a:r>
                    </a:p>
                  </a:txBody>
                  <a:tcPr>
                    <a:solidFill>
                      <a:srgbClr val="005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Confidence</a:t>
                      </a:r>
                    </a:p>
                  </a:txBody>
                  <a:tcPr>
                    <a:solidFill>
                      <a:srgbClr val="0050A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Route</a:t>
                      </a:r>
                    </a:p>
                  </a:txBody>
                  <a:tcPr>
                    <a:solidFill>
                      <a:srgbClr val="0050A0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</a:rPr>
                        <a:t>0 of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Release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</a:rPr>
                        <a:t>1 of 2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50%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100%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Investigate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</a:rPr>
                        <a:t>2 of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Retain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</a:rPr>
                        <a:t>0 of 1 (timeout)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0%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50%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Release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</a:rPr>
                        <a:t>1 of 1 (timeout)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Retain</a:t>
                      </a:r>
                    </a:p>
                  </a:txBody>
                  <a:tcPr/>
                </a:tc>
              </a:tr>
              <a:tr h="320045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22222"/>
                          </a:solidFill>
                        </a:rPr>
                        <a:t>0 of 0 (both timeout)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50%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0%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</a:rPr>
                        <a:t>Investigate</a:t>
                      </a:r>
                    </a:p>
                  </a:txBody>
                  <a:tcPr>
                    <a:solidFill>
                      <a:srgbClr val="E8F0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120640" y="32004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3399"/>
                </a:solidFill>
              </a:rPr>
              <a:t>Assessment Timer (3 seconds)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222222"/>
                </a:solidFill>
              </a:rPr>
              <a:t/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222222"/>
                </a:solidFill>
              </a:rPr>
              <a:t>Starts when Order Validation arrives.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222222"/>
                </a:solidFill>
              </a:rPr>
              <a:t>Publishes immediately if all engines respond early.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222222"/>
                </a:solidFill>
              </a:rPr>
              <a:t>Otherwise publishes on timer expiry with partial data.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222222"/>
                </a:solidFill>
              </a:rPr>
              <a:t>Late-arriving engine outcomes are discarded.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