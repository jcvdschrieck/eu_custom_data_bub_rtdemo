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82880"/>
            <a:ext cx="11247120"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800" b="1">
                <a:solidFill>
                  <a:srgbClr val="003399"/>
                </a:solidFill>
                <a:latin typeface="Calibri"/>
              </a:rPr>
              <a:t>How orders are grouped into a case</a:t>
            </a:r>
          </a:p>
        </p:txBody>
      </p:sp>
      <p:sp>
        <p:nvSpPr>
          <p:cNvPr id="3" name="Rectangle 2"/>
          <p:cNvSpPr/>
          <p:nvPr/>
        </p:nvSpPr>
        <p:spPr>
          <a:xfrm>
            <a:off x="457200" y="685800"/>
            <a:ext cx="112471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300" b="0">
                <a:solidFill>
                  <a:srgbClr val="666666"/>
                </a:solidFill>
                <a:latin typeface="Calibri"/>
              </a:rPr>
              <a:t>Every investigate-routed transaction either joins an existing open case or starts a new one. The decision is deterministic and reversible.</a:t>
            </a:r>
          </a:p>
        </p:txBody>
      </p:sp>
      <p:sp>
        <p:nvSpPr>
          <p:cNvPr id="4" name="Rectangle 3"/>
          <p:cNvSpPr/>
          <p:nvPr/>
        </p:nvSpPr>
        <p:spPr>
          <a:xfrm>
            <a:off x="457200" y="1280160"/>
            <a:ext cx="5760720" cy="2377440"/>
          </a:xfrm>
          <a:prstGeom prst="rect">
            <a:avLst/>
          </a:prstGeom>
          <a:solidFill>
            <a:srgbClr val="FFFFFF"/>
          </a:solidFill>
          <a:ln w="15875">
            <a:solidFill>
              <a:srgbClr val="003399"/>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l"/>
            <a:r>
              <a:rPr b="1" sz="1400">
                <a:solidFill>
                  <a:srgbClr val="003399"/>
                </a:solidFill>
                <a:latin typeface="Calibri"/>
              </a:rPr>
              <a:t>Linking rule — find_similar_open_case</a:t>
            </a:r>
          </a:p>
          <a:p>
            <a:pPr algn="l"/>
            <a:r>
              <a:rPr sz="1100">
                <a:solidFill>
                  <a:srgbClr val="222222"/>
                </a:solidFill>
                <a:latin typeface="Calibri"/>
              </a:rPr>
              <a:t>• Applied when a transaction hits the Custom &amp; Tax Risk Management factory and has been routed to investigate.</a:t>
            </a:r>
          </a:p>
          <a:p>
            <a:pPr algn="l"/>
            <a:r>
              <a:rPr sz="1100">
                <a:solidFill>
                  <a:srgbClr val="222222"/>
                </a:solidFill>
                <a:latin typeface="Calibri"/>
              </a:rPr>
              <a:t>• Among all cases whose Status is not Closed, look for one that shares, with the incoming order, the same Seller, the same declared Product Category, and the same Country of Destination.</a:t>
            </a:r>
          </a:p>
          <a:p>
            <a:pPr algn="l"/>
            <a:r>
              <a:rPr sz="1100">
                <a:solidFill>
                  <a:srgbClr val="222222"/>
                </a:solidFill>
                <a:latin typeface="Calibri"/>
              </a:rPr>
              <a:t>• For the candidates that survive that filter, compare their primary Product Description to the new order's description using Jaccard similarity — keep the best match above the 0.40 threshold.</a:t>
            </a:r>
          </a:p>
          <a:p>
            <a:pPr algn="l"/>
            <a:r>
              <a:rPr sz="1100">
                <a:solidFill>
                  <a:srgbClr val="222222"/>
                </a:solidFill>
                <a:latin typeface="Calibri"/>
              </a:rPr>
              <a:t>• Match → append the order to that existing case. No match → create a new case with this order as the primary.</a:t>
            </a:r>
          </a:p>
        </p:txBody>
      </p:sp>
      <p:sp>
        <p:nvSpPr>
          <p:cNvPr id="5" name="Rectangle 4"/>
          <p:cNvSpPr/>
          <p:nvPr/>
        </p:nvSpPr>
        <p:spPr>
          <a:xfrm>
            <a:off x="6400800" y="1280160"/>
            <a:ext cx="5303520" cy="2377440"/>
          </a:xfrm>
          <a:prstGeom prst="rect">
            <a:avLst/>
          </a:prstGeom>
          <a:solidFill>
            <a:srgbClr val="FFFFFF"/>
          </a:solidFill>
          <a:ln w="15875">
            <a:solidFill>
              <a:srgbClr val="003399"/>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l"/>
            <a:r>
              <a:rPr b="1" sz="1400">
                <a:solidFill>
                  <a:srgbClr val="003399"/>
                </a:solidFill>
                <a:latin typeface="Calibri"/>
              </a:rPr>
              <a:t>Jaccard similarity in plain terms</a:t>
            </a:r>
          </a:p>
          <a:p>
            <a:pPr algn="l"/>
            <a:r>
              <a:rPr sz="1100">
                <a:solidFill>
                  <a:srgbClr val="222222"/>
                </a:solidFill>
                <a:latin typeface="Calibri"/>
              </a:rPr>
              <a:t>• Take the two product descriptions, lower-case them, split each into a set of unique words.</a:t>
            </a:r>
          </a:p>
          <a:p>
            <a:pPr algn="l"/>
            <a:r>
              <a:rPr sz="1100">
                <a:solidFill>
                  <a:srgbClr val="222222"/>
                </a:solidFill>
                <a:latin typeface="Calibri"/>
              </a:rPr>
              <a:t>• similarity = |A ∩ B| / |A ∪ B|  — the fraction of unique words the two descriptions share.</a:t>
            </a:r>
          </a:p>
          <a:p>
            <a:pPr algn="l"/>
            <a:r>
              <a:rPr sz="1100">
                <a:solidFill>
                  <a:srgbClr val="222222"/>
                </a:solidFill>
                <a:latin typeface="Calibri"/>
              </a:rPr>
              <a:t>• Threshold 0.40: two descriptions must share at least 40 % of their combined vocabulary to be treated as the same product cluster.</a:t>
            </a:r>
          </a:p>
          <a:p>
            <a:pPr algn="l"/>
            <a:r>
              <a:rPr sz="1100">
                <a:solidFill>
                  <a:srgbClr val="222222"/>
                </a:solidFill>
                <a:latin typeface="Calibri"/>
              </a:rPr>
              <a:t>• Example match: "Bluetooth wireless earbuds" vs "Bluetooth wireless earphones" → 0.50 → same case.</a:t>
            </a:r>
          </a:p>
          <a:p>
            <a:pPr algn="l"/>
            <a:r>
              <a:rPr sz="1100">
                <a:solidFill>
                  <a:srgbClr val="222222"/>
                </a:solidFill>
                <a:latin typeface="Calibri"/>
              </a:rPr>
              <a:t>• Example mismatch: "Bluetooth wireless earbuds" vs "4K webcam HDR" → 0.00 → separate cases.</a:t>
            </a:r>
          </a:p>
        </p:txBody>
      </p:sp>
      <p:sp>
        <p:nvSpPr>
          <p:cNvPr id="6" name="Rectangle 5"/>
          <p:cNvSpPr/>
          <p:nvPr/>
        </p:nvSpPr>
        <p:spPr>
          <a:xfrm>
            <a:off x="457200" y="3794760"/>
            <a:ext cx="5760720" cy="2697480"/>
          </a:xfrm>
          <a:prstGeom prst="rect">
            <a:avLst/>
          </a:prstGeom>
          <a:solidFill>
            <a:srgbClr val="FFFFFF"/>
          </a:solidFill>
          <a:ln w="15875">
            <a:solidFill>
              <a:srgbClr val="003399"/>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l"/>
            <a:r>
              <a:rPr b="1" sz="1400">
                <a:solidFill>
                  <a:srgbClr val="003399"/>
                </a:solidFill>
                <a:latin typeface="Calibri"/>
              </a:rPr>
              <a:t>Append-while-open policy</a:t>
            </a:r>
          </a:p>
          <a:p>
            <a:pPr algn="l"/>
            <a:r>
              <a:rPr sz="1100">
                <a:solidFill>
                  <a:srgbClr val="222222"/>
                </a:solidFill>
                <a:latin typeface="Calibri"/>
              </a:rPr>
              <a:t>• A case acts as a live container: as long as it is not Closed, every new order that passes the linking rule is appended to it.</a:t>
            </a:r>
          </a:p>
          <a:p>
            <a:pPr algn="l"/>
            <a:r>
              <a:rPr sz="1100">
                <a:solidFill>
                  <a:srgbClr val="222222"/>
                </a:solidFill>
                <a:latin typeface="Calibri"/>
              </a:rPr>
              <a:t>• When the case closes (retainment, release, refused, or the agent wraps up), the container is sealed. A new matching order arriving afterwards starts a fresh case — the sealed one is not reopened.</a:t>
            </a:r>
          </a:p>
          <a:p>
            <a:pPr algn="l"/>
            <a:r>
              <a:rPr sz="1100">
                <a:solidFill>
                  <a:srgbClr val="222222"/>
                </a:solidFill>
                <a:latin typeface="Calibri"/>
              </a:rPr>
              <a:t>• On each append the per-engine case scores are re-averaged across the linked orders and the Overall_Case_Risk_Score is recomputed. The case's AI recommendation is re-derived on every read, so it stays consistent with the new order mix without requiring any manual refresh.</a:t>
            </a:r>
          </a:p>
          <a:p>
            <a:pPr algn="l"/>
            <a:r>
              <a:rPr sz="1100">
                <a:solidFill>
                  <a:srgbClr val="222222"/>
                </a:solidFill>
                <a:latin typeface="Calibri"/>
              </a:rPr>
              <a:t>• Keeps cases coherent (same seller / category / destination / description cluster) without unbounded growth — an unrelated new pattern cannot contaminate an existing case.</a:t>
            </a:r>
          </a:p>
        </p:txBody>
      </p:sp>
      <p:sp>
        <p:nvSpPr>
          <p:cNvPr id="7" name="Rectangle 6"/>
          <p:cNvSpPr/>
          <p:nvPr/>
        </p:nvSpPr>
        <p:spPr>
          <a:xfrm>
            <a:off x="6400800" y="3794760"/>
            <a:ext cx="5303520" cy="2697480"/>
          </a:xfrm>
          <a:prstGeom prst="rect">
            <a:avLst/>
          </a:prstGeom>
          <a:solidFill>
            <a:srgbClr val="FFFFFF"/>
          </a:solidFill>
          <a:ln w="15875">
            <a:solidFill>
              <a:srgbClr val="003399"/>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l"/>
            <a:r>
              <a:rPr b="1" sz="1400">
                <a:solidFill>
                  <a:srgbClr val="003399"/>
                </a:solidFill>
                <a:latin typeface="Calibri"/>
              </a:rPr>
              <a:t>Case-level fields — where they come from</a:t>
            </a:r>
          </a:p>
          <a:p>
            <a:pPr algn="l"/>
            <a:r>
              <a:rPr sz="1100">
                <a:solidFill>
                  <a:srgbClr val="222222"/>
                </a:solidFill>
                <a:latin typeface="Calibri"/>
              </a:rPr>
              <a:t>• Case name: built from the unique product descriptions of the linked orders (top two, plus "+N more" if longer), followed by the seller name. Composed in the frontend by backendCaseToCase.</a:t>
            </a:r>
          </a:p>
          <a:p>
            <a:pPr algn="l"/>
            <a:r>
              <a:rPr sz="1100">
                <a:solidFill>
                  <a:srgbClr val="222222"/>
                </a:solidFill>
                <a:latin typeface="Calibri"/>
              </a:rPr>
              <a:t>• Seller, origin, destination, declared category: taken from the case's primary order (first linked Sales_Order).</a:t>
            </a:r>
          </a:p>
          <a:p>
            <a:pPr algn="l"/>
            <a:r>
              <a:rPr sz="1100">
                <a:solidFill>
                  <a:srgbClr val="222222"/>
                </a:solidFill>
                <a:latin typeface="Calibri"/>
              </a:rPr>
              <a:t>• Engine scores on the case (VAT ratio, ML, IE watchlist, vagueness): averaged across the linked orders at append time. Overall_Case_Risk_Score is their weighted sum, capped at 1.0.</a:t>
            </a:r>
          </a:p>
          <a:p>
            <a:pPr algn="l"/>
            <a:r>
              <a:rPr sz="1100">
                <a:solidFill>
                  <a:srgbClr val="222222"/>
                </a:solidFill>
                <a:latin typeface="Calibri"/>
              </a:rPr>
              <a:t>• AI-suggested action + rationale: computed at hydration time by _compute_customs_recommendation — historical retain-ratio for this (seller, category, destination) plus any confirming engine signals on the current case.</a:t>
            </a:r>
          </a:p>
          <a:p>
            <a:pPr algn="l"/>
            <a:r>
              <a:rPr sz="1100">
                <a:solidFill>
                  <a:srgbClr val="222222"/>
                </a:solidFill>
                <a:latin typeface="Calibri"/>
              </a:rPr>
              <a:t>• VAT_Gap_Fee: populated only once the VAT Fraud Detection agent returns a definitive verdict (sum of per-order (expected − declared) VAT across linked orders).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