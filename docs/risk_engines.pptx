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194560"/>
            <a:ext cx="1069848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5200" b="1">
                <a:solidFill>
                  <a:srgbClr val="FFFFFF"/>
                </a:solidFill>
                <a:latin typeface="Calibri"/>
              </a:rPr>
              <a:t>Risk Monitoring Engines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200400"/>
            <a:ext cx="1069848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200" b="0">
                <a:solidFill>
                  <a:srgbClr val="FFCC00"/>
                </a:solidFill>
                <a:latin typeface="Calibri"/>
              </a:rPr>
              <a:t>EU Custom Data Hub — how transactions are scored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931920"/>
            <a:ext cx="10698480" cy="11887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Four independent engines feed a weighted consolidator that decides release / investigate / retain for every incoming sales order.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0">
                <a:solidFill>
                  <a:srgbClr val="FFCC00"/>
                </a:solidFill>
                <a:latin typeface="Calibri"/>
              </a:rPr>
              <a:t>Four engines · weighted sum · vat_ratio floor · case-level running mean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82880"/>
            <a:ext cx="112471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003399"/>
                </a:solidFill>
                <a:latin typeface="Calibri"/>
              </a:rPr>
              <a:t>Overview — four engines, one release factory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124712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All four subscribe to SALES_ORDER_EVENT and publish to RT_RISK_OUTCOME; the Release Factory consolidates and routes.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743200"/>
            <a:ext cx="1828800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100" b="1">
                <a:solidFill>
                  <a:srgbClr val="222222"/>
                </a:solidFill>
                <a:latin typeface="Calibri"/>
              </a:rPr>
              <a:t>SALES_ORDER_EVENT
broker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0" y="1097280"/>
            <a:ext cx="2286000" cy="91440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VAT Rate
Mismatch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1097280"/>
            <a:ext cx="22860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engine = "vat_ratio"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2240280"/>
            <a:ext cx="2286000" cy="91440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Supplier /
ML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5806440" y="2240280"/>
            <a:ext cx="22860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engine = "watchlist"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3383280"/>
            <a:ext cx="2286000" cy="91440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Ireland
Watchlist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3383280"/>
            <a:ext cx="22860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engine = "ireland_watchlist"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4526280"/>
            <a:ext cx="2286000" cy="91440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Description
Vagueness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06440" y="4526280"/>
            <a:ext cx="22860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engine = "description_vagueness"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5360" y="2651760"/>
            <a:ext cx="2926080" cy="1463040"/>
          </a:xfrm>
          <a:prstGeom prst="rect">
            <a:avLst/>
          </a:prstGeom>
          <a:solidFill>
            <a:srgbClr val="FFCC00"/>
          </a:solidFill>
          <a:ln w="12700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Calibri"/>
              </a:rPr>
              <a:t>Release Factory
_compute_score
(weighted sum ≤ 1)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95360" y="4389120"/>
            <a:ext cx="2926080" cy="457200"/>
          </a:xfrm>
          <a:prstGeom prst="rect">
            <a:avLst/>
          </a:prstGeom>
          <a:solidFill>
            <a:srgbClr val="1F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release  (&lt; 33.3 %)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95360" y="4892040"/>
            <a:ext cx="2926080" cy="457200"/>
          </a:xfrm>
          <a:prstGeom prst="rect">
            <a:avLst/>
          </a:prstGeom>
          <a:solidFill>
            <a:srgbClr val="E6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investigate  (33.3–80 %)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95360" y="5394960"/>
            <a:ext cx="2926080" cy="4572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retain  (≥ 80 %)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377440" y="1554480"/>
            <a:ext cx="1097280" cy="164592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2377440" y="2697480"/>
            <a:ext cx="1097280" cy="50292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377440" y="3200400"/>
            <a:ext cx="1097280" cy="64008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377440" y="3200400"/>
            <a:ext cx="1097280" cy="178308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760720" y="1554480"/>
            <a:ext cx="2834640" cy="182880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760720" y="2697480"/>
            <a:ext cx="2834640" cy="68580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760720" y="3383280"/>
            <a:ext cx="2834640" cy="45720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760720" y="3383280"/>
            <a:ext cx="2834640" cy="160020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058400" y="4114800"/>
            <a:ext cx="0" cy="27432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82880"/>
            <a:ext cx="112471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003399"/>
                </a:solidFill>
                <a:latin typeface="Calibri"/>
              </a:rPr>
              <a:t>Engine 1 — VAT Rate Mismatch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124712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engine_id: "vat_ratio"   ·   ENGINE_WEIGHTS[vat_ratio] = 0.5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5760720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/>
            <a:r>
              <a:rPr b="1" sz="1600">
                <a:solidFill>
                  <a:srgbClr val="003399"/>
                </a:solidFill>
                <a:latin typeface="Calibri"/>
              </a:rPr>
              <a:t>What it detects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Whether the declared VAT rate on an invoice matches the rate the EU expects for the declared product subcategory in the destination country.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The canonical VAT-misclassification fraud pattern: declaring a low-rate subcategory (e.g. 'Basic food 0 %') when the product is actually standard-rated.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5760720" cy="21031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/>
            <a:r>
              <a:rPr b="1" sz="1600">
                <a:solidFill>
                  <a:srgbClr val="003399"/>
                </a:solidFill>
                <a:latin typeface="Calibri"/>
              </a:rPr>
              <a:t>Algorithm (production path)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Key each tx by (destination country, declared VAT subcategory).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Consult the canonical (destination × subcategory) → rate table maintained by the EU VAT Expected-Rate service.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Compare the declared rate to the expected rate. The engine score reflects how severe the mismatch is (graded 0 – 1).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Severe mismatches trigger an investigate floor at consolidation (see the Consolidation slide).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937760"/>
            <a:ext cx="5760720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/>
            <a:r>
              <a:rPr b="1" sz="1600">
                <a:solidFill>
                  <a:srgbClr val="003399"/>
                </a:solidFill>
                <a:latin typeface="Calibri"/>
              </a:rPr>
              <a:t>Output on RT_RISK_OUTCOME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Engine score in [0, 1] — 0 for a clean match, higher as the declared rate drifts further from the expected rate.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reason: rate_mismatch / rate_match / unknown_subcategory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applicable: always True.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280160"/>
            <a:ext cx="5303520" cy="5120640"/>
          </a:xfrm>
          <a:prstGeom prst="rect">
            <a:avLst/>
          </a:prstGeom>
          <a:solidFill>
            <a:srgbClr val="FFF3E0"/>
          </a:solidFill>
          <a:ln w="15875">
            <a:solidFill>
              <a:srgbClr val="E6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/>
            <a:r>
              <a:rPr b="1" sz="1600">
                <a:solidFill>
                  <a:srgbClr val="E6820A"/>
                </a:solidFill>
                <a:latin typeface="Calibri"/>
              </a:rPr>
              <a:t>Demo shortcuts &amp; fallbacks</a:t>
            </a:r>
          </a:p>
          <a:p>
            <a:pPr algn="l"/>
            <a:r>
              <a:rPr sz="1100">
                <a:solidFill>
                  <a:srgbClr val="222222"/>
                </a:solidFill>
                <a:latin typeface="Calibri"/>
              </a:rPr>
              <a:t>• The demo dataset pre-bakes the engine score at seed time from xlsx Score 1 ÷ 100, gated by actual rate mismatch (xlsx zeroes Score 1 when declared = recommended — i.e. category mismatch with no revenue impact, which is not actionable).</a:t>
            </a:r>
          </a:p>
          <a:p>
            <a:pPr algn="l"/>
            <a:r>
              <a:rPr sz="1100">
                <a:solidFill>
                  <a:srgbClr val="222222"/>
                </a:solidFill>
                <a:latin typeface="Calibri"/>
              </a:rPr>
              <a:t>• Engine reads engine_vat_ratio_risk off the tx row verbatim rather than recomputing from the subcategory table each run.</a:t>
            </a:r>
          </a:p>
          <a:p>
            <a:pPr algn="l"/>
            <a:r>
              <a:rPr sz="1100">
                <a:solidFill>
                  <a:srgbClr val="222222"/>
                </a:solidFill>
                <a:latin typeface="Calibri"/>
              </a:rPr>
              <a:t>• Legacy fallback (historical seeder only): 7-day vs 8-week VAT/value volume-ratio alarm. Kept so Sep–Feb historical transactions still route through the pipeline without pre-baked fields.</a:t>
            </a:r>
          </a:p>
          <a:p>
            <a:pPr algn="l"/>
            <a:r>
              <a:rPr sz="1100">
                <a:solidFill>
                  <a:srgbClr val="222222"/>
                </a:solidFill>
                <a:latin typeface="Calibri"/>
              </a:rPr>
              <a:t>• Demo benefit: routing is deterministic and reproducible from the xlsx — no need to maintain a live expected-rate table.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82880"/>
            <a:ext cx="112471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003399"/>
                </a:solidFill>
                <a:latin typeface="Calibri"/>
              </a:rPr>
              <a:t>Engine 2 — Supplier / ML Risk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124712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engine_id: "watchlist"   ·   ENGINE_WEIGHTS[watchlist] = 0.9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5760720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/>
            <a:r>
              <a:rPr b="1" sz="1600">
                <a:solidFill>
                  <a:srgbClr val="003399"/>
                </a:solidFill>
                <a:latin typeface="Calibri"/>
              </a:rPr>
              <a:t>What it detects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Per-tx supplier compliance risk: does this (seller, origin, product category, destination) pattern look like seller behaviours the authority has flagged in past investigations?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Produces a graded score plus four per-dimension contributors (seller, origin, category, destination) that surface in the case.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5760720" cy="21031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/>
            <a:r>
              <a:rPr b="1" sz="1600">
                <a:solidFill>
                  <a:srgbClr val="003399"/>
                </a:solidFill>
                <a:latin typeface="Calibri"/>
              </a:rPr>
              <a:t>Algorithm (production path)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A supervised ML model trained on the authority's historical closed-case dataset (confirmed fraud vs. cleared).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Retraining cadence is offline and periodic — e.g. a nightly or weekly batch job against the latest labelled cases. It is NOT retrained in the live path.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At pipeline runtime only INFERENCE happens: the tx's four features (seller, origin, declared category, destination) go into the most recently trained model, which returns a risk score and per-dimension contribution weights.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Flag threshold: ML_RISK_FLAG_THRESHOLD = 0.5 (informational; the consolidator uses the engine score directly).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937760"/>
            <a:ext cx="5760720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/>
            <a:r>
              <a:rPr b="1" sz="1600">
                <a:solidFill>
                  <a:srgbClr val="003399"/>
                </a:solidFill>
                <a:latin typeface="Calibri"/>
              </a:rPr>
              <a:t>Output on RT_RISK_OUTCOME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Engine score in [0, 1] — probability-like, continuous in production.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description, seller_risk, country_risk, product_category_risk, destination_risk — the four per-dimension contributions to the risk. Propagated into ASSESSMENT_OUTCOME and written onto Sales_Order_Risk at case creation.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reason: match / clear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280160"/>
            <a:ext cx="5303520" cy="5120640"/>
          </a:xfrm>
          <a:prstGeom prst="rect">
            <a:avLst/>
          </a:prstGeom>
          <a:solidFill>
            <a:srgbClr val="FFF3E0"/>
          </a:solidFill>
          <a:ln w="15875">
            <a:solidFill>
              <a:srgbClr val="E6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/>
            <a:r>
              <a:rPr b="1" sz="1600">
                <a:solidFill>
                  <a:srgbClr val="E6820A"/>
                </a:solidFill>
                <a:latin typeface="Calibri"/>
              </a:rPr>
              <a:t>Demo shortcuts &amp; fallbacks</a:t>
            </a:r>
          </a:p>
          <a:p>
            <a:pPr algn="l"/>
            <a:r>
              <a:rPr sz="1100">
                <a:solidFill>
                  <a:srgbClr val="222222"/>
                </a:solidFill>
                <a:latin typeface="Calibri"/>
              </a:rPr>
              <a:t>• No live model in the demo — the entire ML path is replaced by a pre-baked memoised-inference table.</a:t>
            </a:r>
          </a:p>
          <a:p>
            <a:pPr algn="l"/>
            <a:r>
              <a:rPr sz="1100">
                <a:solidFill>
                  <a:srgbClr val="222222"/>
                </a:solidFill>
                <a:latin typeface="Calibri"/>
              </a:rPr>
              <a:t>• TWO-LAYER LOOKUP (both are just static tables seeded at build time):</a:t>
            </a:r>
          </a:p>
          <a:p>
            <a:pPr algn="l"/>
            <a:r>
              <a:rPr sz="1100">
                <a:solidFill>
                  <a:srgbClr val="222222"/>
                </a:solidFill>
                <a:latin typeface="Calibri"/>
              </a:rPr>
              <a:t>•   1. Per-tx overrides (new dataset). The seeder writes engine_ml_risk      plus the four contributors directly onto each tx row, sourced      from xlsx Score 3 ÷ 100 (0, 0.40, or 0.90). Engine reads these      off the tx verbatim.</a:t>
            </a:r>
          </a:p>
          <a:p>
            <a:pPr algn="l"/>
            <a:r>
              <a:rPr sz="1100">
                <a:solidFill>
                  <a:srgbClr val="222222"/>
                </a:solidFill>
                <a:latin typeface="Calibri"/>
              </a:rPr>
              <a:t>•   2. Legacy 4-tuple table. For tx that lack the per-tx override      (Sep–Feb historical rows) the engine falls back to a lookup      against ml_risk_rules in european_custom.db, seeded once from      Context/Fake ML.xlsx and keyed on (seller, origin, category,      destination).</a:t>
            </a:r>
          </a:p>
          <a:p>
            <a:pPr algn="l"/>
            <a:r>
              <a:rPr sz="1100">
                <a:solidFill>
                  <a:srgbClr val="222222"/>
                </a:solidFill>
                <a:latin typeface="Calibri"/>
              </a:rPr>
              <a:t>• Demo benefit: deterministic, reproducible, and avoids the operational burden of training + serving a real classifier; the xlsx scores play the role of the trained model's output.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82880"/>
            <a:ext cx="112471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003399"/>
                </a:solidFill>
                <a:latin typeface="Calibri"/>
              </a:rPr>
              <a:t>Engine 3 — Ireland Watchlist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124712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engine_id: "ireland_watchlist"   ·   ENGINE_WEIGHTS[ireland_watchlist] = 1.0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5760720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/>
            <a:r>
              <a:rPr b="1" sz="1600">
                <a:solidFill>
                  <a:srgbClr val="003399"/>
                </a:solidFill>
                <a:latin typeface="Calibri"/>
              </a:rPr>
              <a:t>What it detects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A country-specific signal: whether the seller of this tx is on the blacklist maintained by the Irish authority.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Applies only to IE-destined orders. Non-IE orders are marked applicable = False and excluded from the consolidator's denominator.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5760720" cy="21031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/>
            <a:r>
              <a:rPr b="1" sz="1600">
                <a:solidFill>
                  <a:srgbClr val="003399"/>
                </a:solidFill>
                <a:latin typeface="Calibri"/>
              </a:rPr>
              <a:t>Algorithm (production path)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In production the engine calls out to a service hosted by the Irish authority, which keeps an authoritative (seller_id, seller_country) blacklist — updated and administered outside the EU hub.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Per request: look up the pair and return match / clear.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Only IE-bound tx are queried; for everything else the engine short-circuits with applicable = False.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937760"/>
            <a:ext cx="5760720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/>
            <a:r>
              <a:rPr b="1" sz="1600">
                <a:solidFill>
                  <a:srgbClr val="003399"/>
                </a:solidFill>
                <a:latin typeface="Calibri"/>
              </a:rPr>
              <a:t>Output on RT_RISK_OUTCOME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Engine score in [0, 1] — binary in production (1.0 match / 0.0 miss).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applicable = False for non-IE tx (engine drops out of denominator).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reason: ie_watchlist_match / clear / not_applicable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280160"/>
            <a:ext cx="5303520" cy="5120640"/>
          </a:xfrm>
          <a:prstGeom prst="rect">
            <a:avLst/>
          </a:prstGeom>
          <a:solidFill>
            <a:srgbClr val="FFF3E0"/>
          </a:solidFill>
          <a:ln w="15875">
            <a:solidFill>
              <a:srgbClr val="E6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/>
            <a:r>
              <a:rPr b="1" sz="1600">
                <a:solidFill>
                  <a:srgbClr val="E6820A"/>
                </a:solidFill>
                <a:latin typeface="Calibri"/>
              </a:rPr>
              <a:t>Demo shortcuts &amp; fallbacks</a:t>
            </a:r>
          </a:p>
          <a:p>
            <a:pPr algn="l"/>
            <a:r>
              <a:rPr sz="1100">
                <a:solidFill>
                  <a:srgbClr val="222222"/>
                </a:solidFill>
                <a:latin typeface="Calibri"/>
              </a:rPr>
              <a:t>• No live Irish-authority service in the demo — replaced by a static in-memory set IE_WATCHLIST in lib/watchlist.py, currently EMPTY so every IE tx lands in 'clear'.</a:t>
            </a:r>
          </a:p>
          <a:p>
            <a:pPr algn="l"/>
            <a:r>
              <a:rPr sz="1100">
                <a:solidFill>
                  <a:srgbClr val="222222"/>
                </a:solidFill>
                <a:latin typeface="Calibri"/>
              </a:rPr>
              <a:t>• Per-tx pre-bake: engine_ie_watchlist_risk = 0.0 on every IE tx at seed time so the engine uses the pre-baked value rather than hitting the empty set.</a:t>
            </a:r>
          </a:p>
          <a:p>
            <a:pPr algn="l"/>
            <a:r>
              <a:rPr sz="1100">
                <a:solidFill>
                  <a:srgbClr val="222222"/>
                </a:solidFill>
                <a:latin typeface="Calibri"/>
              </a:rPr>
              <a:t>• Network-latency simulation (1–5 s random sleep) is added in the fallback path to reproduce the real round-trip to the remote service. Because the sleep can exceed ASSESSMENT_TIMER_S (3 s), some IE outcomes legitimately arrive after the consolidator has published — intentional, exercises the 'late outcome' branch.</a:t>
            </a:r>
          </a:p>
          <a:p>
            <a:pPr algn="l"/>
            <a:r>
              <a:rPr sz="1100">
                <a:solidFill>
                  <a:srgbClr val="222222"/>
                </a:solidFill>
                <a:latin typeface="Calibri"/>
              </a:rPr>
              <a:t>• Demo benefit: shows the country-specific-engine pattern (remote authority, applicability gate) without needing an actual external feed. Empty watchlist keeps the engine visible at 0 % on every IE case breakdown.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82880"/>
            <a:ext cx="112471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003399"/>
                </a:solidFill>
                <a:latin typeface="Calibri"/>
              </a:rPr>
              <a:t>Engine 4 — Description Vagueness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124712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engine_id: "description_vagueness"   ·   ENGINE_WEIGHTS[description_vagueness] = 0.8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5760720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/>
            <a:r>
              <a:rPr b="1" sz="1600">
                <a:solidFill>
                  <a:srgbClr val="003399"/>
                </a:solidFill>
                <a:latin typeface="Calibri"/>
              </a:rPr>
              <a:t>What it detects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How generic or ambiguous the product description on the sales order is.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A high score alone is not conclusive, but combined with VAT or supplier signals it tips the consolidated score over the investigate threshold.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5760720" cy="21031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/>
            <a:r>
              <a:rPr b="1" sz="1600">
                <a:solidFill>
                  <a:srgbClr val="003399"/>
                </a:solidFill>
                <a:latin typeface="Calibri"/>
              </a:rPr>
              <a:t>Algorithm (production path)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Embed the product description with sentence-transformers/all-MiniLM-L6-v2 (pre-loaded on backend startup in a worker thread).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Cosine-similarity against a pre-computed anchor embedding built from a bag of generic phrases ('general goods', 'miscellaneous items', …).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Clamp the raw similarity to [0, 1] and publish as risk.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Flag threshold: risk ≥ 0.5.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937760"/>
            <a:ext cx="5760720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/>
            <a:r>
              <a:rPr b="1" sz="1600">
                <a:solidFill>
                  <a:srgbClr val="003399"/>
                </a:solidFill>
                <a:latin typeface="Calibri"/>
              </a:rPr>
              <a:t>Output on RT_RISK_OUTCOME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risk ∈ [0, 1] — continuous in production, jittered from a binary xlsx signal in the demo (see shortcuts).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reason: prebaked_clear / prebaked_vague / clear / vague_description / missing_description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applicable: always True.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280160"/>
            <a:ext cx="5303520" cy="5120640"/>
          </a:xfrm>
          <a:prstGeom prst="rect">
            <a:avLst/>
          </a:prstGeom>
          <a:solidFill>
            <a:srgbClr val="FFF3E0"/>
          </a:solidFill>
          <a:ln w="15875">
            <a:solidFill>
              <a:srgbClr val="E6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/>
            <a:r>
              <a:rPr b="1" sz="1600">
                <a:solidFill>
                  <a:srgbClr val="E6820A"/>
                </a:solidFill>
                <a:latin typeface="Calibri"/>
              </a:rPr>
              <a:t>Demo shortcuts &amp; fallbacks</a:t>
            </a:r>
          </a:p>
          <a:p>
            <a:pPr algn="l"/>
            <a:r>
              <a:rPr sz="1100">
                <a:solidFill>
                  <a:srgbClr val="222222"/>
                </a:solidFill>
                <a:latin typeface="Calibri"/>
              </a:rPr>
              <a:t>• Pre-baked value: engine_vagueness_risk set per-tx at seed time from xlsx Score 2 ÷ 100 (binary: 0 or 0.60).</a:t>
            </a:r>
          </a:p>
          <a:p>
            <a:pPr algn="l"/>
            <a:r>
              <a:rPr sz="1100">
                <a:solidFill>
                  <a:srgbClr val="222222"/>
                </a:solidFill>
                <a:latin typeface="Calibri"/>
              </a:rPr>
              <a:t>• Continuous-baseline jitter in lib/new_seeder._jitter_vagueness: quiet pre-bake → uniform(0.02, 0.08), firing pre-bake → pre-baked + uniform(-0.03, 0.05). Keeps the UI from showing hard 0 % while preserving route distribution (max jitter contribution 0.064 ≪ threshold gaps).</a:t>
            </a:r>
          </a:p>
          <a:p>
            <a:pPr algn="l"/>
            <a:r>
              <a:rPr sz="1100">
                <a:solidFill>
                  <a:srgbClr val="222222"/>
                </a:solidFill>
                <a:latin typeface="Calibri"/>
              </a:rPr>
              <a:t>• Within-case diversity: the seeder promotes a configurable fraction of siblings in each investigate cluster to 'vague variants' — generic description + high vagueness score, low vat_ratio / ml — so case averages show mixed signals.</a:t>
            </a:r>
          </a:p>
          <a:p>
            <a:pPr algn="l"/>
            <a:r>
              <a:rPr sz="1100">
                <a:solidFill>
                  <a:srgbClr val="222222"/>
                </a:solidFill>
                <a:latin typeface="Calibri"/>
              </a:rPr>
              <a:t>• Embedding-model fallback: kept for tx with no pre-baked value (legacy seeder). Slow path but fully continuous.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82880"/>
            <a:ext cx="112471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003399"/>
                </a:solidFill>
                <a:latin typeface="Calibri"/>
              </a:rPr>
              <a:t>Score consolidation — weighted sum ≤ 1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124712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api.py _release_factory._compute_score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124712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/>
            <a:r>
              <a:rPr b="1" sz="1400">
                <a:solidFill>
                  <a:srgbClr val="003399"/>
                </a:solidFill>
                <a:latin typeface="Calibri"/>
              </a:rPr>
              <a:t>What each engine emits</a:t>
            </a:r>
          </a:p>
          <a:p>
            <a:pPr algn="l"/>
            <a:r>
              <a:rPr sz="1100">
                <a:solidFill>
                  <a:srgbClr val="222222"/>
                </a:solidFill>
                <a:latin typeface="Calibri"/>
              </a:rPr>
              <a:t>• Each engine publishes an ENGINE SCORE in [0, 1] — its own reading of how suspicious this single tx looks on that dimension. 0 = clean, 1 = maximally suspicious. Different engines use different scales (binary, graded, probabilistic); the consolidator is what ties them into one case-level score.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31720"/>
            <a:ext cx="1106424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400" b="1">
                <a:solidFill>
                  <a:srgbClr val="003399"/>
                </a:solidFill>
                <a:latin typeface="Calibri"/>
              </a:rPr>
              <a:t>case_score = min( 1.0 ,  Σ  ENGINE_WEIGHTS[eng] × engine_score[eng]   for every APPLICABLE engine 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017520"/>
            <a:ext cx="41148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300" b="1">
                <a:solidFill>
                  <a:srgbClr val="003399"/>
                </a:solidFill>
                <a:latin typeface="Calibri"/>
              </a:rPr>
              <a:t>ENGINE_WEIGHTS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337560"/>
            <a:ext cx="27432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l"/>
            <a:r>
              <a:rPr sz="1100" b="0">
                <a:solidFill>
                  <a:srgbClr val="222222"/>
                </a:solidFill>
                <a:latin typeface="Calibri"/>
              </a:rPr>
              <a:t>vat_ratio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3337560"/>
            <a:ext cx="731520" cy="347472"/>
          </a:xfrm>
          <a:prstGeom prst="rect">
            <a:avLst/>
          </a:prstGeom>
          <a:solidFill>
            <a:srgbClr val="FFCC00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100" b="1">
                <a:solidFill>
                  <a:srgbClr val="222222"/>
                </a:solidFill>
                <a:latin typeface="Calibri"/>
              </a:rPr>
              <a:t>0.5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721608"/>
            <a:ext cx="27432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l"/>
            <a:r>
              <a:rPr sz="1100" b="0">
                <a:solidFill>
                  <a:srgbClr val="222222"/>
                </a:solidFill>
                <a:latin typeface="Calibri"/>
              </a:rPr>
              <a:t>watchlist  (ML)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3721608"/>
            <a:ext cx="731520" cy="347472"/>
          </a:xfrm>
          <a:prstGeom prst="rect">
            <a:avLst/>
          </a:prstGeom>
          <a:solidFill>
            <a:srgbClr val="FFCC00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100" b="1">
                <a:solidFill>
                  <a:srgbClr val="222222"/>
                </a:solidFill>
                <a:latin typeface="Calibri"/>
              </a:rPr>
              <a:t>0.9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105656"/>
            <a:ext cx="27432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l"/>
            <a:r>
              <a:rPr sz="1100" b="0">
                <a:solidFill>
                  <a:srgbClr val="222222"/>
                </a:solidFill>
                <a:latin typeface="Calibri"/>
              </a:rPr>
              <a:t>ireland_watchlist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4105656"/>
            <a:ext cx="731520" cy="347472"/>
          </a:xfrm>
          <a:prstGeom prst="rect">
            <a:avLst/>
          </a:prstGeom>
          <a:solidFill>
            <a:srgbClr val="FFCC00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100" b="1">
                <a:solidFill>
                  <a:srgbClr val="222222"/>
                </a:solidFill>
                <a:latin typeface="Calibri"/>
              </a:rPr>
              <a:t>1.0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489704"/>
            <a:ext cx="27432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l"/>
            <a:r>
              <a:rPr sz="1100" b="0">
                <a:solidFill>
                  <a:srgbClr val="222222"/>
                </a:solidFill>
                <a:latin typeface="Calibri"/>
              </a:rPr>
              <a:t>description_vagueness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4489704"/>
            <a:ext cx="731520" cy="347472"/>
          </a:xfrm>
          <a:prstGeom prst="rect">
            <a:avLst/>
          </a:prstGeom>
          <a:solidFill>
            <a:srgbClr val="FFCC00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100" b="1">
                <a:solidFill>
                  <a:srgbClr val="222222"/>
                </a:solidFill>
                <a:latin typeface="Calibri"/>
              </a:rPr>
              <a:t>0.8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3017520"/>
            <a:ext cx="7132320" cy="2011680"/>
          </a:xfrm>
          <a:prstGeom prst="rect">
            <a:avLst/>
          </a:prstGeom>
          <a:solidFill>
            <a:srgbClr val="FFF3E0"/>
          </a:solidFill>
          <a:ln w="15875">
            <a:solidFill>
              <a:srgbClr val="E6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/>
            <a:r>
              <a:rPr b="1" sz="1400">
                <a:solidFill>
                  <a:srgbClr val="E6820A"/>
                </a:solidFill>
                <a:latin typeface="Calibri"/>
              </a:rPr>
              <a:t>vat_ratio floor</a:t>
            </a:r>
          </a:p>
          <a:p>
            <a:pPr algn="l"/>
            <a:r>
              <a:rPr sz="1100">
                <a:solidFill>
                  <a:srgbClr val="222222"/>
                </a:solidFill>
                <a:latin typeface="Calibri"/>
              </a:rPr>
              <a:t>• Policy stance: any tx whose vat_ratio engine score ≥ 0.30 must at least INVESTIGATE, regardless of its weight.</a:t>
            </a:r>
          </a:p>
          <a:p>
            <a:pPr algn="l"/>
            <a:r>
              <a:rPr sz="1100">
                <a:solidFill>
                  <a:srgbClr val="222222"/>
                </a:solidFill>
                <a:latin typeface="Calibri"/>
              </a:rPr>
              <a:t>• Mechanism: when this triggers, the vat_ratio engine's WEIGHTED contribution is lifted to THRESHOLD_RELEASE + ε (≈ 0.334) before the sum — so even a graded rate mismatch can't be released on a low weight alone.</a:t>
            </a:r>
          </a:p>
          <a:p>
            <a:pPr algn="l"/>
            <a:r>
              <a:rPr sz="1100">
                <a:solidFill>
                  <a:srgbClr val="222222"/>
                </a:solidFill>
                <a:latin typeface="Calibri"/>
              </a:rPr>
              <a:t>• Trigger score (0.30) sits between the xlsx Release tier (Score 1 = 25) and Investigate tier (Score 1 ≥ 37.5).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212080"/>
            <a:ext cx="11155680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/>
            <a:r>
              <a:rPr b="1" sz="1400">
                <a:solidFill>
                  <a:srgbClr val="003399"/>
                </a:solidFill>
                <a:latin typeface="Calibri"/>
              </a:rPr>
              <a:t>Applicability &amp; confidence</a:t>
            </a:r>
          </a:p>
          <a:p>
            <a:pPr algn="l"/>
            <a:r>
              <a:rPr sz="1100">
                <a:solidFill>
                  <a:srgbClr val="222222"/>
                </a:solidFill>
                <a:latin typeface="Calibri"/>
              </a:rPr>
              <a:t>• Engines may self-report applicable = False (e.g. IE watchlist on non-IE tx). Those engines are excluded from the sum AND from the denominator used for confidence.</a:t>
            </a:r>
          </a:p>
          <a:p>
            <a:pPr algn="l"/>
            <a:r>
              <a:rPr sz="1100">
                <a:solidFill>
                  <a:srgbClr val="222222"/>
                </a:solidFill>
                <a:latin typeface="Calibri"/>
              </a:rPr>
              <a:t>• confidence = applicable_received / applicable_expected (0 %, 25 %, 50 %, 75 %, or 100 %). If zero applicable engines report, case_score defaults to 0.5 (uncertain).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82880"/>
            <a:ext cx="112471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003399"/>
                </a:solidFill>
                <a:latin typeface="Calibri"/>
              </a:rPr>
              <a:t>Routing thresholds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124712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THRESHOLD_RELEASE = 1/3   ·   THRESHOLD_RETAIN = 0.80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2560320" cy="1188720"/>
          </a:xfrm>
          <a:prstGeom prst="rect">
            <a:avLst/>
          </a:prstGeom>
          <a:solidFill>
            <a:srgbClr val="1F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Release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1280160"/>
            <a:ext cx="27432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>
                <a:solidFill>
                  <a:srgbClr val="222222"/>
                </a:solidFill>
                <a:latin typeface="Calibri"/>
              </a:rPr>
              <a:t>score &lt; 33.33 %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371600"/>
            <a:ext cx="557784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Terminal event published; no case opened.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51760"/>
            <a:ext cx="2560320" cy="1188720"/>
          </a:xfrm>
          <a:prstGeom prst="rect">
            <a:avLst/>
          </a:prstGeom>
          <a:solidFill>
            <a:srgbClr val="E6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Investigate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2651760"/>
            <a:ext cx="27432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>
                <a:solidFill>
                  <a:srgbClr val="222222"/>
                </a:solidFill>
                <a:latin typeface="Calibri"/>
              </a:rPr>
              <a:t>33.33 % ≤ score &lt; 80 %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2743200"/>
            <a:ext cx="557784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Sent to the C&amp;T Risk Management Factory; a case is opened in investigation.db and pushed over SSE to the Customs/Tax frontends.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2560320" cy="1188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Retain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023360"/>
            <a:ext cx="27432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>
                <a:solidFill>
                  <a:srgbClr val="222222"/>
                </a:solidFill>
                <a:latin typeface="Calibri"/>
              </a:rPr>
              <a:t>score ≥ 80 %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4114800"/>
            <a:ext cx="557784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Terminal event published; NO case opened (retain bypasses C&amp;T by design — retentions are the outcome of officer escalation from an existing investigate case).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669280"/>
            <a:ext cx="11155680" cy="1097280"/>
          </a:xfrm>
          <a:prstGeom prst="rect">
            <a:avLst/>
          </a:prstGeom>
          <a:solidFill>
            <a:srgbClr val="FFF3E0"/>
          </a:solidFill>
          <a:ln w="15875">
            <a:solidFill>
              <a:srgbClr val="E6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/>
            <a:r>
              <a:rPr b="1" sz="1600">
                <a:solidFill>
                  <a:srgbClr val="E6820A"/>
                </a:solidFill>
                <a:latin typeface="Calibri"/>
              </a:rPr>
              <a:t>Threshold rationale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The retain threshold was raised from 2/3 ≈ 0.667 to 0.80 because the xlsx classifies Overall Risk Score = 75 as Investigate (not Retain) and ≥ 90 as Retain. Without the raise, Score-75 tx would mis-route to Retain and disappear from the C&amp;T queue.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82880"/>
            <a:ext cx="112471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003399"/>
                </a:solidFill>
                <a:latin typeface="Calibri"/>
              </a:rPr>
              <a:t>UI readouts &amp; case-level averaging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124712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What the C&amp;T Risk Signals panel shows, and how the backend produces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669280" cy="3108960"/>
          </a:xfrm>
          <a:prstGeom prst="rect">
            <a:avLst/>
          </a:prstGeom>
          <a:solidFill>
            <a:srgbClr val="FFFFFF"/>
          </a:solidFill>
          <a:ln w="15875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/>
            <a:r>
              <a:rPr b="1" sz="1600">
                <a:solidFill>
                  <a:srgbClr val="003399"/>
                </a:solidFill>
                <a:latin typeface="Calibri"/>
              </a:rPr>
              <a:t>Risk Signals panel — two numbers per engine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MAIN: contribution in POINTS, on the same 0..100 scale as the overall case risk score. A bar visualises each contribution.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SECONDARY (right-aligned, small): engine's SHARE of the case risk (its weighted contribution / sum of the four weighted contributions, normalised to 100 %).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Intended reading: the MAIN number tells how much this signal adds to the overall score; the SHARE tells which signal dominates relative to the others.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NARRATIVE: each row carries a context-aware one-liner — fires / mild / quiet — so officers see what the engine is saying without reading raw scores.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Raw engine severity and engine weights are NOT displayed in the UI (avoid inviting questions about weight tuning). They remain in the backend logs and this deck.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188720"/>
            <a:ext cx="5303520" cy="3108960"/>
          </a:xfrm>
          <a:prstGeom prst="rect">
            <a:avLst/>
          </a:prstGeom>
          <a:solidFill>
            <a:srgbClr val="FFFFFF"/>
          </a:solidFill>
          <a:ln w="15875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/>
            <a:r>
              <a:rPr b="1" sz="1600">
                <a:solidFill>
                  <a:srgbClr val="003399"/>
                </a:solidFill>
                <a:latin typeface="Calibri"/>
              </a:rPr>
              <a:t>Case-level RUNNING AVERAGE (backend)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When a new order joins an existing case (C&amp;T factory detects a similar open case by Jaccard ≥ 0.4 on description):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  n = orders in the case after this one is appended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  Engine_X_new = (Engine_X_old × (n-1) + order_Engine_X) / n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  Overall_new  = (Overall_old  × (n-1) + order_score)    / n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Each engine field on Sales_Order_Case is an arithmetic mean across every order in the case — not a snapshot of the first transaction.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Contribution pts and share used in the UI are computed from these case-level averages.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480560"/>
            <a:ext cx="11247120" cy="2103120"/>
          </a:xfrm>
          <a:prstGeom prst="rect">
            <a:avLst/>
          </a:prstGeom>
          <a:solidFill>
            <a:srgbClr val="FFF3E0"/>
          </a:solidFill>
          <a:ln w="15875">
            <a:solidFill>
              <a:srgbClr val="E6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/>
            <a:r>
              <a:rPr b="1" sz="1600">
                <a:solidFill>
                  <a:srgbClr val="E6820A"/>
                </a:solidFill>
                <a:latin typeface="Calibri"/>
              </a:rPr>
              <a:t>⚠ Why the contributions only SUM APPROXIMATELY to the overall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Per-order score passes through the weighted sum AND the vat_ratio floor AND the min(1.0, …) cap. Only the weighted-sum part commutes with averaging across orders.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Consequence: Σ (ENGINE_WEIGHTS × Engine_X_avg) ≠ Overall_Case_Risk_Score whenever the floor or the cap fired on any order in the case — small residual on the order of a few points.</a:t>
            </a:r>
          </a:p>
          <a:p>
            <a:pPr algn="l"/>
            <a:r>
              <a:rPr sz="1200">
                <a:solidFill>
                  <a:srgbClr val="222222"/>
                </a:solidFill>
                <a:latin typeface="Calibri"/>
              </a:rPr>
              <a:t>• Officer-facing implication: the four contribution bars sum to roughly the overall score; shares sum to 100 %. Both are approximations of the same underlying case-level risk, useful for different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