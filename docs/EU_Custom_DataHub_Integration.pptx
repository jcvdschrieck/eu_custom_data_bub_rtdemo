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DA5"/>
                </a:solidFill>
              </a:defRPr>
            </a:pPr>
            <a:r>
              <a:t>1. Component architecture — Frontend + Backend &amp; information gateways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95057"/>
                </a:solidFill>
              </a:defRPr>
            </a:pPr>
            <a:r>
              <a:t>Two independent processes (port 8000 &amp; 8080). All cross-process traffic goes through one HTTP API surface.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6217920" cy="5120640"/>
          </a:xfrm>
          <a:prstGeom prst="rect">
            <a:avLst/>
          </a:prstGeom>
          <a:solidFill>
            <a:srgbClr val="E3ECF8"/>
          </a:solidFill>
          <a:ln w="9525">
            <a:solidFill>
              <a:srgbClr val="003DA5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143000"/>
            <a:ext cx="6126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DA5"/>
                </a:solidFill>
              </a:defRPr>
            </a:pPr>
            <a:r>
              <a:t>BACKEND  •  EU_custom_data_hub_RTDemo  •  FastAPI  •  port 8000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97280"/>
            <a:ext cx="5029200" cy="5120640"/>
          </a:xfrm>
          <a:prstGeom prst="rect">
            <a:avLst/>
          </a:prstGeom>
          <a:solidFill>
            <a:srgbClr val="EFE7FB"/>
          </a:solidFill>
          <a:ln w="9525">
            <a:solidFill>
              <a:srgbClr val="6F42C1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85432" y="1143000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F42C1"/>
                </a:solidFill>
              </a:defRPr>
            </a:pPr>
            <a:r>
              <a:t>FRONTEND  •  revenue-guardian  •  Vite + React  •  port 8080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73736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003DA5"/>
                </a:solidFill>
              </a:defRPr>
            </a:pPr>
            <a:r>
              <a:t>Simulation engine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replay of March-2026 txs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173736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003DA5"/>
                </a:solidFill>
              </a:defRPr>
            </a:pPr>
            <a:r>
              <a:t>Risk engines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vat_ratio + watchlist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2240280"/>
            <a:ext cx="182880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003DA5"/>
                </a:solidFill>
              </a:defRPr>
            </a:pPr>
            <a:r>
              <a:t>Release Factory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route: release/retain/investigate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240280"/>
            <a:ext cx="17830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6F42C1"/>
                </a:solidFill>
              </a:defRPr>
            </a:pPr>
            <a:r>
              <a:t>C&amp;T Risk Mgmt Factory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rewritten — opens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971800"/>
            <a:ext cx="17830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003DA5"/>
                </a:solidFill>
              </a:defRPr>
            </a:pPr>
            <a:r>
              <a:t>DB Store Factory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emits Custom Outcome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173736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003DA5"/>
                </a:solidFill>
              </a:defRPr>
            </a:pPr>
            <a:r>
              <a:t>Pub/sub broker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in-memory (lib/broker)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2971800"/>
            <a:ext cx="182880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003DA5"/>
                </a:solidFill>
              </a:defRPr>
            </a:pPr>
            <a:r>
              <a:t>Event store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data/events/*.json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1828800" cy="548640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198754"/>
                </a:solidFill>
              </a:defRPr>
            </a:pPr>
            <a:r>
              <a:t>investigation.db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3 tables (case + order + risk)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3703320"/>
            <a:ext cx="1828800" cy="548640"/>
          </a:xfrm>
          <a:prstGeom prst="roundRect">
            <a:avLst/>
          </a:prstGeom>
          <a:solidFill>
            <a:srgbClr val="F1F3F5"/>
          </a:solidFill>
          <a:ln w="15875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495057"/>
                </a:solidFill>
              </a:defRPr>
            </a:pPr>
            <a:r>
              <a:t>european_custom.db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legacy — sink deactivated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3703320"/>
            <a:ext cx="1783080" cy="548640"/>
          </a:xfrm>
          <a:prstGeom prst="roundRect">
            <a:avLst/>
          </a:prstGeom>
          <a:solidFill>
            <a:srgbClr val="F1F3F5"/>
          </a:solidFill>
          <a:ln w="15875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495057"/>
                </a:solidFill>
              </a:defRPr>
            </a:pPr>
            <a:r>
              <a:t>VAT Fraud Agent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LM Studio bridge — not yet wired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72000"/>
            <a:ext cx="5806440" cy="594360"/>
          </a:xfrm>
          <a:prstGeom prst="roundRect">
            <a:avLst/>
          </a:prstGeom>
          <a:solidFill>
            <a:srgbClr val="DCF1EF"/>
          </a:solidFill>
          <a:ln w="15875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100" b="1">
                <a:solidFill>
                  <a:srgbClr val="0B7A75"/>
                </a:solidFill>
              </a:defRPr>
            </a:pPr>
            <a:r>
              <a:t>REST + SSE API surface  /api/rg/cases/*</a:t>
            </a:r>
          </a:p>
          <a:p>
            <a:pPr algn="ctr">
              <a:defRPr sz="800" b="0">
                <a:solidFill>
                  <a:srgbClr val="495057"/>
                </a:solidFill>
              </a:defRPr>
            </a:pPr>
            <a:r>
              <a:t>GET cases · GET cases/stream · POST customs-action · tax-action · final-decision · communication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49240"/>
            <a:ext cx="5806440" cy="640080"/>
          </a:xfrm>
          <a:prstGeom prst="roundRect">
            <a:avLst/>
          </a:prstGeom>
          <a:solidFill>
            <a:srgbClr val="E3ECF8"/>
          </a:solidFill>
          <a:ln w="15875"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100" b="1">
                <a:solidFill>
                  <a:srgbClr val="003DA5"/>
                </a:solidFill>
              </a:defRPr>
            </a:pPr>
            <a:r>
              <a:t>Simulation / pipeline diagram UI</a:t>
            </a:r>
          </a:p>
          <a:p>
            <a:pPr algn="ctr">
              <a:defRPr sz="800" b="0">
                <a:solidFill>
                  <a:srgbClr val="495057"/>
                </a:solidFill>
              </a:defRPr>
            </a:pPr>
            <a:r>
              <a:t>React SPA built into the backend repo, served by FastAPI at :8000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1554480"/>
            <a:ext cx="45262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6F42C1"/>
                </a:solidFill>
              </a:defRPr>
            </a:pPr>
            <a:r>
              <a:t>App.tsx  •  router  •  bootstraps caseStore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2194560"/>
            <a:ext cx="2194560" cy="548640"/>
          </a:xfrm>
          <a:prstGeom prst="roundRect">
            <a:avLst/>
          </a:prstGeom>
          <a:solidFill>
            <a:srgbClr val="EFE7FB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6F42C1"/>
                </a:solidFill>
              </a:defRPr>
            </a:pPr>
            <a:r>
              <a:t>apiClient.ts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REST + SSE + action POSTs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2194560"/>
            <a:ext cx="2194560" cy="548640"/>
          </a:xfrm>
          <a:prstGeom prst="roundRect">
            <a:avLst/>
          </a:prstGeom>
          <a:solidFill>
            <a:srgbClr val="EFE7FB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6F42C1"/>
                </a:solidFill>
              </a:defRPr>
            </a:pPr>
            <a:r>
              <a:t>caseStore.ts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in-memory cases cache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2926080"/>
            <a:ext cx="45262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6F42C1"/>
                </a:solidFill>
              </a:defRPr>
            </a:pPr>
            <a:r>
              <a:t>taxReviewStore.ts (modified)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reads from caseStore · setters POST through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3611880"/>
            <a:ext cx="141732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6F42C1"/>
                </a:solidFill>
              </a:defRPr>
            </a:pPr>
            <a:r>
              <a:t>Customs Authority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page (modified)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3611880"/>
            <a:ext cx="141732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6F42C1"/>
                </a:solidFill>
              </a:defRPr>
            </a:pPr>
            <a:r>
              <a:t>Tax Authority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page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49840" y="3611880"/>
            <a:ext cx="141732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6F42C1"/>
                </a:solidFill>
              </a:defRPr>
            </a:pPr>
            <a:r>
              <a:t>Investigations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page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4434840"/>
            <a:ext cx="45262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6F42C1"/>
                </a:solidFill>
              </a:defRPr>
            </a:pPr>
            <a:r>
              <a:t>TaxReviewDialog · EucdhTransactionDialog · LaunchInvestigationDialog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native shadcn/ui dialogs, unchanged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5074920"/>
            <a:ext cx="4526280" cy="502920"/>
          </a:xfrm>
          <a:prstGeom prst="roundRect">
            <a:avLst/>
          </a:prstGeom>
          <a:solidFill>
            <a:srgbClr val="F1F3F5"/>
          </a:solidFill>
          <a:ln w="15875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495057"/>
                </a:solidFill>
              </a:defRPr>
            </a:pPr>
            <a:r>
              <a:t>localStorage  (UI cache only)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recommendation pick · per-officer flags · risk breakdown overrides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6446520" y="2468880"/>
            <a:ext cx="594360" cy="2377440"/>
          </a:xfrm>
          <a:prstGeom prst="bentConnector3">
            <a:avLst/>
          </a:prstGeom>
          <a:ln w="31750">
            <a:solidFill>
              <a:srgbClr val="0B7A7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57900" y="3429000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B7A75"/>
                </a:solidFill>
              </a:defRPr>
            </a:pPr>
            <a:r>
              <a:t>REST  /api/rg/*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6446520" y="2697480"/>
            <a:ext cx="594360" cy="2331720"/>
          </a:xfrm>
          <a:prstGeom prst="bentConnector3">
            <a:avLst/>
          </a:prstGeom>
          <a:ln w="31750">
            <a:solidFill>
              <a:srgbClr val="0B7A75"/>
            </a:solidFill>
            <a:prstDash val="lg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49340" y="3909059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B7A75"/>
                </a:solidFill>
              </a:defRPr>
            </a:pPr>
            <a:r>
              <a:t>SSE  cases/stream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6446520" y="3200400"/>
            <a:ext cx="594360" cy="1737360"/>
          </a:xfrm>
          <a:prstGeom prst="bentConnector3">
            <a:avLst/>
          </a:prstGeom>
          <a:ln w="22225">
            <a:solidFill>
              <a:srgbClr val="FD7E1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72100" y="4023360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D7E14"/>
                </a:solidFill>
              </a:defRPr>
            </a:pPr>
            <a:r>
              <a:t>POST 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495057"/>
                </a:solidFill>
              </a:defRPr>
            </a:pPr>
            <a:r>
              <a:t>Information gateways: 1) REST GET /api/rg/cases  2) SSE /api/rg/cases/stream (push)  3) REST POST officer actions back. CORS open. No shared state.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DA5"/>
                </a:solidFill>
              </a:defRPr>
            </a:pPr>
            <a:r>
              <a:t>2. 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95057"/>
                </a:solidFill>
              </a:defRPr>
            </a:pPr>
            <a:r>
              <a:t>Three SQLite stores, two of which are now decoupled. Snapshot semantics on case-open.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6217920" cy="3657600"/>
          </a:xfrm>
          <a:prstGeom prst="rect">
            <a:avLst/>
          </a:prstGeom>
          <a:solidFill>
            <a:srgbClr val="EFE7FB"/>
          </a:solidFill>
          <a:ln w="9525">
            <a:solidFill>
              <a:srgbClr val="6F42C1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143000"/>
            <a:ext cx="6126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F42C1"/>
                </a:solidFill>
              </a:defRPr>
            </a:pPr>
            <a:r>
              <a:t>investigation.db  •  authoritative for Revenue Guardian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8288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6F42C1"/>
                </a:solidFill>
              </a:defRPr>
            </a:pPr>
            <a:r>
              <a:t>Sales_Order</a:t>
            </a:r>
            <a:br/>
            <a:r>
              <a:t>(snapshot)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ID · BusinessKey · HS_Category · Description · Value · VAT_Rate · VAT_Fee · Seller · Origin · Destination · Status · Update_time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554480"/>
            <a:ext cx="18288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6F42C1"/>
                </a:solidFill>
              </a:defRPr>
            </a:pPr>
            <a:r>
              <a:t>Sales_Order_Risk</a:t>
            </a:r>
            <a:br/>
            <a:r>
              <a:t>(snapshot)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Risk_Type · Overall_Score · Overall_Level · Confidence · Proposed_Action · 4 dimensional sub-scores (null for now)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54480"/>
            <a:ext cx="1828800" cy="1417320"/>
          </a:xfrm>
          <a:prstGeom prst="roundRect">
            <a:avLst/>
          </a:prstGeom>
          <a:solidFill>
            <a:srgbClr val="EFE7FB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6F42C1"/>
                </a:solidFill>
              </a:defRPr>
            </a:pPr>
            <a:r>
              <a:t>Sales_Order_Case</a:t>
            </a:r>
            <a:br/>
            <a:r>
              <a:t>(workspace)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Status · VAT_Problem_Type · Recommended_* · AI_Analysis · VAT_Gap_Fee · Proposed_Action_Tax · Proposed_Action_Customs · Communication[]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3063240"/>
            <a:ext cx="0" cy="320040"/>
          </a:xfrm>
          <a:prstGeom prst="bentConnector3">
            <a:avLst/>
          </a:prstGeom>
          <a:ln w="19050">
            <a:solidFill>
              <a:srgbClr val="6F42C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20440" y="3063240"/>
            <a:ext cx="0" cy="320040"/>
          </a:xfrm>
          <a:prstGeom prst="bentConnector3">
            <a:avLst/>
          </a:prstGeom>
          <a:ln w="19050">
            <a:solidFill>
              <a:srgbClr val="6F42C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3063240"/>
            <a:ext cx="0" cy="320040"/>
          </a:xfrm>
          <a:prstGeom prst="bentConnector3">
            <a:avLst/>
          </a:prstGeom>
          <a:ln w="19050">
            <a:solidFill>
              <a:srgbClr val="6F42C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3383280"/>
            <a:ext cx="57607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6F42C1"/>
                </a:solidFill>
              </a:defRPr>
            </a:pPr>
            <a:r>
              <a:t>joined on  Sales_Order_Business_Key  →  hydrated DTO returned by /api/rg/cases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892040"/>
            <a:ext cx="6217920" cy="868680"/>
          </a:xfrm>
          <a:prstGeom prst="rect">
            <a:avLst/>
          </a:prstGeom>
          <a:solidFill>
            <a:srgbClr val="F1F3F5"/>
          </a:solidFill>
          <a:ln w="9525">
            <a:solidFill>
              <a:srgbClr val="495057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4937759"/>
            <a:ext cx="6126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95057"/>
                </a:solidFill>
              </a:defRPr>
            </a:pPr>
            <a:r>
              <a:t>european_custom.db  •  legacy (DB Store sink deactivated)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166360"/>
            <a:ext cx="182880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495057"/>
                </a:solidFill>
              </a:defRPr>
            </a:pPr>
            <a:r>
              <a:t>transactions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historical seed (risk-engine baselines)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5166360"/>
            <a:ext cx="182880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495057"/>
                </a:solidFill>
              </a:defRPr>
            </a:pPr>
            <a:r>
              <a:t>Sales_Order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not written anymore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5166360"/>
            <a:ext cx="182880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495057"/>
                </a:solidFill>
              </a:defRPr>
            </a:pPr>
            <a:r>
              <a:t>Sales_Order_Risk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not written anymore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852160"/>
            <a:ext cx="6217920" cy="868680"/>
          </a:xfrm>
          <a:prstGeom prst="rect">
            <a:avLst/>
          </a:prstGeom>
          <a:solidFill>
            <a:srgbClr val="FFF4E6"/>
          </a:solidFill>
          <a:ln w="9525">
            <a:solidFill>
              <a:srgbClr val="FD7E1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5897880"/>
            <a:ext cx="6126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D7E14"/>
                </a:solidFill>
              </a:defRPr>
            </a:pPr>
            <a:r>
              <a:t>Reference tables  •  european_custom.db  →  GET /api/reference  (single fetch on app startup)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6080760"/>
            <a:ext cx="141732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FD7E14"/>
                </a:solidFill>
              </a:defRPr>
            </a:pPr>
            <a:r>
              <a:t>vat_categories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label · rate · description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6080760"/>
            <a:ext cx="141732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FD7E14"/>
                </a:solidFill>
              </a:defRPr>
            </a:pPr>
            <a:r>
              <a:t>risk_levels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name · display_color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6080760"/>
            <a:ext cx="141732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FD7E14"/>
                </a:solidFill>
              </a:defRPr>
            </a:pPr>
            <a:r>
              <a:t>eu_regions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country_code → region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6080760"/>
            <a:ext cx="146304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FD7E14"/>
                </a:solidFill>
              </a:defRPr>
            </a:pPr>
            <a:r>
              <a:t>suspicion_types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name · description · icon · color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80" y="1097280"/>
            <a:ext cx="5029200" cy="3657600"/>
          </a:xfrm>
          <a:prstGeom prst="rect">
            <a:avLst/>
          </a:prstGeom>
          <a:solidFill>
            <a:srgbClr val="DCF1EF"/>
          </a:solidFill>
          <a:ln w="9525">
            <a:solidFill>
              <a:srgbClr val="0B7A75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85432" y="1143000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B7A75"/>
                </a:solidFill>
              </a:defRPr>
            </a:pPr>
            <a:r>
              <a:t>Event store  •  data/events/&lt;topic&gt;/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1554480"/>
            <a:ext cx="457200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0B7A75"/>
                </a:solidFill>
              </a:defRPr>
            </a:pPr>
            <a:r>
              <a:t>sales_order_event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2057400"/>
            <a:ext cx="457200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0B7A75"/>
                </a:solidFill>
              </a:defRPr>
            </a:pPr>
            <a:r>
              <a:t>rt_risk_outcome  ·  order_validation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86600" y="2560320"/>
            <a:ext cx="457200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0B7A75"/>
                </a:solidFill>
              </a:defRPr>
            </a:pPr>
            <a:r>
              <a:t>assessment_outcome  (route: release/retain/investigate)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3063240"/>
            <a:ext cx="457200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0B7A75"/>
                </a:solidFill>
              </a:defRPr>
            </a:pPr>
            <a:r>
              <a:t>investigation_outcome  (case closure exit event)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3566160"/>
            <a:ext cx="4572000" cy="640080"/>
          </a:xfrm>
          <a:prstGeom prst="roundRect">
            <a:avLst/>
          </a:prstGeom>
          <a:solidFill>
            <a:srgbClr val="DCF1EF"/>
          </a:solidFill>
          <a:ln w="15875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0B7A75"/>
                </a:solidFill>
              </a:defRPr>
            </a:pPr>
            <a:r>
              <a:t>custom_outcome  (NEW terminal broker)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status: automated_release · custom_release · custom_retain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4297680"/>
            <a:ext cx="4572000" cy="365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800" b="0">
                <a:solidFill>
                  <a:srgbClr val="0B7A75"/>
                </a:solidFill>
              </a:defRPr>
            </a:pPr>
            <a:r>
              <a:t>(events persisted as JSON for replay &amp; counters)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4892040"/>
            <a:ext cx="5029200" cy="1828800"/>
          </a:xfrm>
          <a:prstGeom prst="rect">
            <a:avLst/>
          </a:prstGeom>
          <a:solidFill>
            <a:srgbClr val="EFE7FB"/>
          </a:solidFill>
          <a:ln w="9525">
            <a:solidFill>
              <a:srgbClr val="6F42C1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85432" y="4937759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F42C1"/>
                </a:solidFill>
              </a:defRPr>
            </a:pPr>
            <a:r>
              <a:t>revenue-guardian frontend memory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86600" y="5349240"/>
            <a:ext cx="457200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6F42C1"/>
                </a:solidFill>
              </a:defRPr>
            </a:pPr>
            <a:r>
              <a:t>caseStore: Map&lt;Case_ID, BackendCase&gt;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hydrated from REST + SSE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5806440"/>
            <a:ext cx="457200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6F42C1"/>
                </a:solidFill>
              </a:defRPr>
            </a:pPr>
            <a:r>
              <a:t>referenceStore: lookup bundle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hydrated once from /api/reference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86600" y="6263640"/>
            <a:ext cx="4572000" cy="457200"/>
          </a:xfrm>
          <a:prstGeom prst="roundRect">
            <a:avLst/>
          </a:prstGeom>
          <a:solidFill>
            <a:srgbClr val="F1F3F5"/>
          </a:solidFill>
          <a:ln w="15875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900" b="1">
                <a:solidFill>
                  <a:srgbClr val="495057"/>
                </a:solidFill>
              </a:defRPr>
            </a:pPr>
            <a:r>
              <a:t>localStorage (UI cache, non-authoritative)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recommendation pick · per-officer flags · risk overrides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495057"/>
                </a:solidFill>
              </a:defRPr>
            </a:pPr>
            <a:r>
              <a:t>Snapshot semantics: case-open freezes order + risk into investigation.db. Lookups now live in european_custom.db, fetched once via GET /api/reference at app startup.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DA5"/>
                </a:solidFill>
              </a:defRPr>
            </a:pPr>
            <a:r>
              <a:t>3. Functional architecture &amp; integration changes (high level)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95057"/>
                </a:solidFill>
              </a:defRPr>
            </a:pPr>
            <a:r>
              <a:t>Same functional pipeline as before; the C&amp;T block was rewired and the data hub sink was replaced by a terminal event broker.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75720" cy="3108960"/>
          </a:xfrm>
          <a:prstGeom prst="rect">
            <a:avLst/>
          </a:prstGeom>
          <a:solidFill>
            <a:srgbClr val="E3ECF8"/>
          </a:solidFill>
          <a:ln w="9525">
            <a:solidFill>
              <a:srgbClr val="003DA5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1887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DA5"/>
                </a:solidFill>
              </a:defRPr>
            </a:pPr>
            <a:r>
              <a:t>Functional pipeline (left → right)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137160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495057"/>
                </a:solidFill>
              </a:defRPr>
            </a:pPr>
            <a:r>
              <a:t>Entry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seed 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2240280"/>
            <a:ext cx="137160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003DA5"/>
                </a:solidFill>
              </a:defRPr>
            </a:pPr>
            <a:r>
              <a:t>Risk Assessment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2 engines +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240280"/>
            <a:ext cx="137160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003DA5"/>
                </a:solidFill>
              </a:defRPr>
            </a:pPr>
            <a:r>
              <a:t>Release Factory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route by colour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240280"/>
            <a:ext cx="1371600" cy="777240"/>
          </a:xfrm>
          <a:prstGeom prst="roundRect">
            <a:avLst/>
          </a:prstGeom>
          <a:solidFill>
            <a:srgbClr val="EFE7FB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6F42C1"/>
                </a:solidFill>
              </a:defRPr>
            </a:pPr>
            <a:r>
              <a:t>C&amp;T Risk Mgmt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opens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240280"/>
            <a:ext cx="1371600" cy="777240"/>
          </a:xfrm>
          <a:prstGeom prst="roundRect">
            <a:avLst/>
          </a:prstGeom>
          <a:solidFill>
            <a:srgbClr val="EFE7FB"/>
          </a:solidFill>
          <a:ln w="1587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6F42C1"/>
                </a:solidFill>
              </a:defRPr>
            </a:pPr>
            <a:r>
              <a:t>Officer review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Customs / Tax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40280"/>
            <a:ext cx="137160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003DA5"/>
                </a:solidFill>
              </a:defRPr>
            </a:pPr>
            <a:r>
              <a:t>DB Store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emits terminal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2240280"/>
            <a:ext cx="1371600" cy="777240"/>
          </a:xfrm>
          <a:prstGeom prst="roundRect">
            <a:avLst/>
          </a:prstGeom>
          <a:solidFill>
            <a:srgbClr val="DCF1EF"/>
          </a:solidFill>
          <a:ln w="15875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>
              <a:defRPr sz="1000" b="1">
                <a:solidFill>
                  <a:srgbClr val="0B7A75"/>
                </a:solidFill>
              </a:defRPr>
            </a:pPr>
            <a:r>
              <a:t>Custom Outcome</a:t>
            </a:r>
          </a:p>
          <a:p>
            <a:pPr algn="ctr">
              <a:defRPr sz="700" b="0">
                <a:solidFill>
                  <a:srgbClr val="495057"/>
                </a:solidFill>
              </a:defRPr>
            </a:pPr>
            <a:r>
              <a:t>3 statuses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74519" y="2628900"/>
            <a:ext cx="137160" cy="0"/>
          </a:xfrm>
          <a:prstGeom prst="bentConnector3">
            <a:avLst/>
          </a:prstGeom>
          <a:ln w="19050">
            <a:solidFill>
              <a:srgbClr val="49505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83280" y="2628900"/>
            <a:ext cx="137160" cy="0"/>
          </a:xfrm>
          <a:prstGeom prst="bentConnector3">
            <a:avLst/>
          </a:prstGeom>
          <a:ln w="19050">
            <a:solidFill>
              <a:srgbClr val="49505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92040" y="2628900"/>
            <a:ext cx="137160" cy="0"/>
          </a:xfrm>
          <a:prstGeom prst="bentConnector3">
            <a:avLst/>
          </a:prstGeom>
          <a:ln w="19050">
            <a:solidFill>
              <a:srgbClr val="49505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00800" y="2628900"/>
            <a:ext cx="137160" cy="0"/>
          </a:xfrm>
          <a:prstGeom prst="bentConnector3">
            <a:avLst/>
          </a:prstGeom>
          <a:ln w="19050">
            <a:solidFill>
              <a:srgbClr val="49505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09560" y="2628900"/>
            <a:ext cx="137160" cy="0"/>
          </a:xfrm>
          <a:prstGeom prst="bentConnector3">
            <a:avLst/>
          </a:prstGeom>
          <a:ln w="19050">
            <a:solidFill>
              <a:srgbClr val="49505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2628900"/>
            <a:ext cx="137160" cy="0"/>
          </a:xfrm>
          <a:prstGeom prst="bentConnector3">
            <a:avLst/>
          </a:prstGeom>
          <a:ln w="19050">
            <a:solidFill>
              <a:srgbClr val="49505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178308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95057"/>
                </a:solidFill>
              </a:defRPr>
            </a:pPr>
            <a:r>
              <a:t>Convergence with Slide 1:  Risk Assessment → Release Factory → DB Store all live in the backend; C&amp;T + Officer review live across the gateway (backend stores cases, frontend renders/acts).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34840"/>
            <a:ext cx="3794760" cy="2240280"/>
          </a:xfrm>
          <a:prstGeom prst="rect">
            <a:avLst/>
          </a:prstGeom>
          <a:solidFill>
            <a:srgbClr val="E3ECF8"/>
          </a:solidFill>
          <a:ln w="9525"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>
              <a:defRPr sz="1100" b="1">
                <a:solidFill>
                  <a:srgbClr val="003DA5"/>
                </a:solidFill>
              </a:defRPr>
            </a:pPr>
            <a:r>
              <a:t>Native — unchanged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Simulation engine + replay clock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Risk engines (vat_ratio, watchlist) + validation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Release Factory routing logic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Pub/sub broker + event store mechanism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Simulation / pipeline UI (built-in)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VAT Fraud Detection agent bridge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4434840"/>
            <a:ext cx="3794760" cy="2240280"/>
          </a:xfrm>
          <a:prstGeom prst="rect">
            <a:avLst/>
          </a:prstGeom>
          <a:solidFill>
            <a:srgbClr val="EFE7FB"/>
          </a:solidFill>
          <a:ln w="952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>
              <a:defRPr sz="1100" b="1">
                <a:solidFill>
                  <a:srgbClr val="6F42C1"/>
                </a:solidFill>
              </a:defRPr>
            </a:pPr>
            <a:r>
              <a:t>Modified — C&amp;T integration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C&amp;T Factory now opens cases (3-row write)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INVESTIGATION_OUTCOME = case-closure event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/api/rg/cases REST + SSE surface added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Officer-action endpoints (close, comment, …)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investigation.db extended to 3 tables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Officer actions flow back over HTTP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4434840"/>
            <a:ext cx="3703320" cy="2240280"/>
          </a:xfrm>
          <a:prstGeom prst="rect">
            <a:avLst/>
          </a:prstGeom>
          <a:solidFill>
            <a:srgbClr val="DCF1EF"/>
          </a:solidFill>
          <a:ln w="9525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>
              <a:defRPr sz="1100" b="1">
                <a:solidFill>
                  <a:srgbClr val="0B7A75"/>
                </a:solidFill>
              </a:defRPr>
            </a:pPr>
            <a:r>
              <a:t>New — terminal broker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DB Store sink deactivated (no hub writes)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DB Store now publishes Custom Outcome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Per-status counters (auto / custom rls / retain)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Pipeline diagram swaps the cylinder for a broker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Counters surface on /api/simulation/pipeline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Backwards-compat: european_custom.db still seeded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495057"/>
                </a:solidFill>
              </a:defRPr>
            </a:pPr>
            <a:r>
              <a:t>All three columns map back to the components on Slide 1; Custom Outcome is the new exit point of the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DA5"/>
                </a:solidFill>
              </a:defRPr>
            </a:pPr>
            <a:r>
              <a:t>4. Two viewpoints — process vs.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95057"/>
                </a:solidFill>
              </a:defRPr>
            </a:pPr>
            <a:r>
              <a:t>These are not the same split. The backend repo also owns a built-in frontend (the simulation page).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8686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DA5"/>
                </a:solidFill>
              </a:defRPr>
            </a:pPr>
            <a:r>
              <a:t>Backend (server, port 8000)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8686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F42C1"/>
                </a:solidFill>
              </a:defRPr>
            </a:pPr>
            <a:r>
              <a:t>Frontend (UI, port 8080)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75720" cy="2606040"/>
          </a:xfrm>
          <a:prstGeom prst="rect">
            <a:avLst/>
          </a:prstGeom>
          <a:solidFill>
            <a:srgbClr val="E3ECF8"/>
          </a:solidFill>
          <a:ln w="9525">
            <a:solidFill>
              <a:srgbClr val="003DA5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2588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DA5"/>
                </a:solidFill>
              </a:defRPr>
            </a:pPr>
            <a:r>
              <a:t>EU_custom_data_hub_RTDemo  (repo)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19"/>
            <a:ext cx="640080" cy="2148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03DA5"/>
                </a:solidFill>
              </a:defRPr>
            </a:pPr>
            <a:r>
              <a:t>EU_custom_data_hub  REPO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645919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>
              <a:defRPr sz="1100" b="1">
                <a:solidFill>
                  <a:srgbClr val="003DA5"/>
                </a:solidFill>
              </a:defRPr>
            </a:pPr>
            <a:r>
              <a:t>Backend role (FastAPI)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Simulation engine + clock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Pub/sub broker + event store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Risk engines, Release Factory, C&amp;T Factory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DB Store Factory → Custom Outcome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investigation.db (3 tables) — case data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REST + SSE: /api/rg/cases/*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Officer-action endpoints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VAT Fraud Detection agent bridge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645919"/>
            <a:ext cx="3657600" cy="2103120"/>
          </a:xfrm>
          <a:prstGeom prst="rect">
            <a:avLst/>
          </a:prstGeom>
          <a:solidFill>
            <a:srgbClr val="EFE7FB"/>
          </a:solidFill>
          <a:ln w="952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>
              <a:defRPr sz="1100" b="1">
                <a:solidFill>
                  <a:srgbClr val="6F42C1"/>
                </a:solidFill>
              </a:defRPr>
            </a:pPr>
            <a:r>
              <a:t>Frontend role  (this repo also!)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Simulation / pipeline UI — React SPA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Built into frontend/dist, served by FastAPI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Operator audience: demo controller, not officer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URL: http://localhost:8000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Pipeline diagram with broker + factory tiles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Custom Outcome counters live here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(Independent of revenue-guardian)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069080"/>
            <a:ext cx="11475720" cy="2606040"/>
          </a:xfrm>
          <a:prstGeom prst="rect">
            <a:avLst/>
          </a:prstGeom>
          <a:solidFill>
            <a:srgbClr val="EFE7FB"/>
          </a:solidFill>
          <a:ln w="9525">
            <a:solidFill>
              <a:srgbClr val="6F42C1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411480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F42C1"/>
                </a:solidFill>
              </a:defRPr>
            </a:pPr>
            <a:r>
              <a:t>revenue-guardian  (repo)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34840"/>
            <a:ext cx="640080" cy="2148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F42C1"/>
                </a:solidFill>
              </a:defRPr>
            </a:pPr>
            <a:r>
              <a:t>revenue-guardian  REPO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4434840"/>
            <a:ext cx="3657600" cy="2103120"/>
          </a:xfrm>
          <a:prstGeom prst="rect">
            <a:avLst/>
          </a:prstGeom>
          <a:solidFill>
            <a:srgbClr val="F1F3F5"/>
          </a:solidFill>
          <a:ln w="9525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>
              <a:defRPr sz="1100" b="1">
                <a:solidFill>
                  <a:srgbClr val="495057"/>
                </a:solidFill>
              </a:defRPr>
            </a:pPr>
            <a:r>
              <a:t>Backend role  —  none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No server in this repo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All persistence delegated to backend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All authoritative state lives at :8000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(The .env points to VITE_API_BASE_URL)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443484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>
              <a:defRPr sz="1100" b="1">
                <a:solidFill>
                  <a:srgbClr val="6F42C1"/>
                </a:solidFill>
              </a:defRPr>
            </a:pPr>
            <a:r>
              <a:t>Frontend role (Vite + React, port 8080)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Customs Authority dashboard (officer)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Tax Authority dashboard (officer)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Investigations review page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apiClient + caseStore (REST + SSE)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taxReviewStore (officer-action POSTs)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URL: http://localhost:8080</a:t>
            </a:r>
          </a:p>
          <a:p>
            <a:pPr>
              <a:defRPr sz="900">
                <a:solidFill>
                  <a:srgbClr val="495057"/>
                </a:solidFill>
              </a:defRPr>
            </a:pPr>
            <a:r>
              <a:t>• Audience: customs / tax officers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495057"/>
                </a:solidFill>
              </a:defRPr>
            </a:pPr>
            <a:r>
              <a:t>Key insight: the backend repo carries its OWN frontend (simulation page). The 'frontend repo' is only one of two UIs. Process split (port 8000 vs 8080) is orthogonal to repo split (data-hub repo vs guardian repo).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